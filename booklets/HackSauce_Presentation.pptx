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  <p:sldMasterId id="214748366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Abel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bel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e51619977_0_2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ce5161997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e3e49d30f_5_3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91" name="Google Shape;91;g3ce3e49d30f_5_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2" name="Google Shape;92;g3ce3e49d30f_5_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e51619977_0_3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03" name="Google Shape;103;g3ce51619977_0_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4" name="Google Shape;104;g3ce51619977_0_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e3e49d30f_0_123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14" name="Google Shape;114;g3ce3e49d30f_0_1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5" name="Google Shape;115;g3ce3e49d30f_0_1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e7f4a3d7c_0_29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30" name="Google Shape;130;g3ce7f4a3d7c_0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1" name="Google Shape;131;g3ce7f4a3d7c_0_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e7f4a3d7c_0_5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47" name="Google Shape;147;g3ce7f4a3d7c_0_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8" name="Google Shape;148;g3ce7f4a3d7c_0_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e51619977_0_4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66" name="Google Shape;166;g3ce51619977_0_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7" name="Google Shape;167;g3ce51619977_0_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e51619977_0_5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95" name="Google Shape;195;g3ce51619977_0_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96" name="Google Shape;196;g3ce51619977_0_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ce7f4a3d7c_0_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05" name="Google Shape;205;g3ce7f4a3d7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06" name="Google Shape;206;g3ce7f4a3d7c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ce51619977_0_6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30" name="Google Shape;230;g3ce51619977_0_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31" name="Google Shape;231;g3ce51619977_0_6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ce51619977_0_13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68" name="Google Shape;268;g3ce51619977_0_1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69" name="Google Shape;269;g3ce51619977_0_1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ce7d5e4802_0_23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95" name="Google Shape;295;g3ce7d5e4802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96" name="Google Shape;296;g3ce7d5e4802_0_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ce51619977_0_14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21" name="Google Shape;321;g3ce51619977_0_1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22" name="Google Shape;322;g3ce51619977_0_1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on left, text on right">
  <p:cSld name="TITLE_AND_TWO_COLUMNS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3434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1219200" y="461129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43434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1219200" y="461129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65532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on left, text on right" type="twoColTx">
  <p:cSld name="TITLE_AND_TWO_COLUMN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idx="10" type="dt"/>
          </p:nvPr>
        </p:nvSpPr>
        <p:spPr>
          <a:xfrm>
            <a:off x="43434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1219200" y="461129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65532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1116012" y="307181"/>
            <a:ext cx="75597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1116012" y="1314450"/>
            <a:ext cx="75597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0" type="dt"/>
          </p:nvPr>
        </p:nvSpPr>
        <p:spPr>
          <a:xfrm>
            <a:off x="43434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1219200" y="461129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65532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0" y="4572000"/>
            <a:ext cx="9144000" cy="571500"/>
            <a:chOff x="0" y="3840"/>
            <a:chExt cx="5760" cy="480"/>
          </a:xfrm>
        </p:grpSpPr>
        <p:sp>
          <p:nvSpPr>
            <p:cNvPr id="56" name="Google Shape;56;p14"/>
            <p:cNvSpPr/>
            <p:nvPr/>
          </p:nvSpPr>
          <p:spPr>
            <a:xfrm>
              <a:off x="0" y="3984"/>
              <a:ext cx="5760" cy="336"/>
            </a:xfrm>
            <a:prstGeom prst="rect">
              <a:avLst/>
            </a:prstGeom>
            <a:solidFill>
              <a:srgbClr val="8224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14"/>
            <p:cNvSpPr/>
            <p:nvPr/>
          </p:nvSpPr>
          <p:spPr>
            <a:xfrm>
              <a:off x="768" y="3840"/>
              <a:ext cx="4992" cy="480"/>
            </a:xfrm>
            <a:prstGeom prst="rect">
              <a:avLst/>
            </a:prstGeom>
            <a:solidFill>
              <a:srgbClr val="8224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" name="Google Shape;58;p14"/>
          <p:cNvSpPr txBox="1"/>
          <p:nvPr>
            <p:ph type="title"/>
          </p:nvPr>
        </p:nvSpPr>
        <p:spPr>
          <a:xfrm>
            <a:off x="1116012" y="307181"/>
            <a:ext cx="75597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1116012" y="1314450"/>
            <a:ext cx="75597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22433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»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»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»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»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»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43434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1219200" y="461129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6553200" y="461129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Pagina </a:t>
            </a:r>
            <a:fld id="{00000000-1234-1234-1234-123412341234}" type="slidenum">
              <a:rPr lang="it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8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672424"/>
            <a:ext cx="914400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8"/>
          <p:cNvSpPr/>
          <p:nvPr/>
        </p:nvSpPr>
        <p:spPr>
          <a:xfrm>
            <a:off x="0" y="0"/>
            <a:ext cx="9144000" cy="1672500"/>
          </a:xfrm>
          <a:prstGeom prst="rect">
            <a:avLst/>
          </a:prstGeom>
          <a:solidFill>
            <a:srgbClr val="C0CED9"/>
          </a:solidFill>
          <a:ln cap="flat" cmpd="sng" w="9525">
            <a:solidFill>
              <a:srgbClr val="C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type="ctrTitle"/>
          </p:nvPr>
        </p:nvSpPr>
        <p:spPr>
          <a:xfrm>
            <a:off x="2027200" y="373880"/>
            <a:ext cx="6587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/>
              <a:t>Laboratory of Advanced Programming</a:t>
            </a:r>
            <a:endParaRPr sz="2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/>
              <a:t>Hackathon exam - 11 March 2026 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8"/>
          <p:cNvSpPr txBox="1"/>
          <p:nvPr/>
        </p:nvSpPr>
        <p:spPr>
          <a:xfrm>
            <a:off x="2336700" y="3512700"/>
            <a:ext cx="5435700" cy="16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6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rPr>
              <a:t>HackSauce</a:t>
            </a:r>
            <a:r>
              <a:rPr lang="it" sz="24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rPr>
              <a:t>:</a:t>
            </a:r>
            <a:br>
              <a:rPr lang="it" sz="24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rPr>
            </a:br>
            <a:endParaRPr sz="2400">
              <a:solidFill>
                <a:schemeClr val="lt1"/>
              </a:solidFill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rPr>
              <a:t>Francesco Giuseppe Gallo</a:t>
            </a:r>
            <a:endParaRPr sz="1800">
              <a:solidFill>
                <a:schemeClr val="lt1"/>
              </a:solidFill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rPr>
              <a:t>Angelo Garcia</a:t>
            </a:r>
            <a:endParaRPr sz="1800">
              <a:solidFill>
                <a:schemeClr val="lt1"/>
              </a:solidFill>
              <a:latin typeface="Abel"/>
              <a:ea typeface="Abel"/>
              <a:cs typeface="Abel"/>
              <a:sym typeface="Abe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idx="10" type="dt"/>
          </p:nvPr>
        </p:nvSpPr>
        <p:spPr>
          <a:xfrm>
            <a:off x="4343400" y="4611284"/>
            <a:ext cx="19050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/>
              <a:t>11/03/2026</a:t>
            </a:r>
            <a:endParaRPr sz="100"/>
          </a:p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6553200" y="4611281"/>
            <a:ext cx="19050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/>
              <a:t>Page 2</a:t>
            </a:r>
            <a:endParaRPr sz="200"/>
          </a:p>
        </p:txBody>
      </p:sp>
      <p:sp>
        <p:nvSpPr>
          <p:cNvPr id="96" name="Google Shape;96;p19"/>
          <p:cNvSpPr txBox="1"/>
          <p:nvPr>
            <p:ph idx="4294967295" type="title"/>
          </p:nvPr>
        </p:nvSpPr>
        <p:spPr>
          <a:xfrm>
            <a:off x="1105625" y="202591"/>
            <a:ext cx="74169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it" sz="3600">
                <a:latin typeface="Abel"/>
                <a:ea typeface="Abel"/>
                <a:cs typeface="Abel"/>
                <a:sym typeface="Abel"/>
              </a:rPr>
              <a:t>SYSTEM </a:t>
            </a:r>
            <a:r>
              <a:rPr lang="it" sz="3600">
                <a:latin typeface="Abel"/>
                <a:ea typeface="Abel"/>
                <a:cs typeface="Abel"/>
                <a:sym typeface="Abel"/>
              </a:rPr>
              <a:t>DESCRIPTION:</a:t>
            </a:r>
            <a:endParaRPr sz="3600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97" name="Google Shape;97;p19"/>
          <p:cNvSpPr txBox="1"/>
          <p:nvPr/>
        </p:nvSpPr>
        <p:spPr>
          <a:xfrm>
            <a:off x="1954212" y="472678"/>
            <a:ext cx="18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1060050" y="827100"/>
            <a:ext cx="7023900" cy="34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Abel"/>
                <a:ea typeface="Abel"/>
                <a:cs typeface="Abel"/>
                <a:sym typeface="Abel"/>
              </a:rPr>
              <a:t>HackSauce is a distributed automation platform capable of automatically gathering information about your Mars habitat conditions and changing the state of actuators in order to avoid system failures and severe thermodynamic consequences.</a:t>
            </a:r>
            <a:endParaRPr sz="1600">
              <a:latin typeface="Abel"/>
              <a:ea typeface="Abel"/>
              <a:cs typeface="Abel"/>
              <a:sym typeface="Abel"/>
            </a:endParaRPr>
          </a:p>
          <a:p>
            <a:pPr indent="0" lvl="0" marL="0" marR="3688383" rtl="0" algn="just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Abel"/>
                <a:ea typeface="Abel"/>
                <a:cs typeface="Abel"/>
                <a:sym typeface="Abel"/>
              </a:rPr>
              <a:t>The system ingests sensor data in real time, applies automation rules, and allows the habitat operator to monitor live sensor readings, track actuator states, and manage automation rules from a single dashboard.</a:t>
            </a:r>
            <a:endParaRPr sz="2300"/>
          </a:p>
        </p:txBody>
      </p:sp>
      <p:sp>
        <p:nvSpPr>
          <p:cNvPr id="99" name="Google Shape;99;p19"/>
          <p:cNvSpPr txBox="1"/>
          <p:nvPr>
            <p:ph idx="11" type="ftr"/>
          </p:nvPr>
        </p:nvSpPr>
        <p:spPr>
          <a:xfrm>
            <a:off x="1219200" y="4611281"/>
            <a:ext cx="28956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/>
              <a:t>HackSauce</a:t>
            </a:r>
            <a:r>
              <a:rPr b="0" i="0" lang="it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8440" y="2156845"/>
            <a:ext cx="3534225" cy="187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idx="10" type="dt"/>
          </p:nvPr>
        </p:nvSpPr>
        <p:spPr>
          <a:xfrm>
            <a:off x="4343400" y="4611284"/>
            <a:ext cx="19050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/>
              <a:t>11/03/2026</a:t>
            </a:r>
            <a:endParaRPr sz="100"/>
          </a:p>
        </p:txBody>
      </p:sp>
      <p:sp>
        <p:nvSpPr>
          <p:cNvPr id="107" name="Google Shape;107;p20"/>
          <p:cNvSpPr txBox="1"/>
          <p:nvPr>
            <p:ph idx="11" type="ftr"/>
          </p:nvPr>
        </p:nvSpPr>
        <p:spPr>
          <a:xfrm>
            <a:off x="1219200" y="4611281"/>
            <a:ext cx="28956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/>
              <a:t>HackSauce</a:t>
            </a:r>
            <a:endParaRPr/>
          </a:p>
        </p:txBody>
      </p:sp>
      <p:sp>
        <p:nvSpPr>
          <p:cNvPr id="108" name="Google Shape;108;p20"/>
          <p:cNvSpPr txBox="1"/>
          <p:nvPr>
            <p:ph idx="12" type="sldNum"/>
          </p:nvPr>
        </p:nvSpPr>
        <p:spPr>
          <a:xfrm>
            <a:off x="6553200" y="4611281"/>
            <a:ext cx="19050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/>
              <a:t>Page 3</a:t>
            </a:r>
            <a:endParaRPr sz="200"/>
          </a:p>
        </p:txBody>
      </p:sp>
      <p:sp>
        <p:nvSpPr>
          <p:cNvPr id="109" name="Google Shape;109;p20"/>
          <p:cNvSpPr txBox="1"/>
          <p:nvPr>
            <p:ph idx="4294967295" type="title"/>
          </p:nvPr>
        </p:nvSpPr>
        <p:spPr>
          <a:xfrm>
            <a:off x="1105625" y="202591"/>
            <a:ext cx="74169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it" sz="36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USER STORIES:</a:t>
            </a:r>
            <a:endParaRPr sz="360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3600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110" name="Google Shape;110;p20"/>
          <p:cNvSpPr txBox="1"/>
          <p:nvPr/>
        </p:nvSpPr>
        <p:spPr>
          <a:xfrm>
            <a:off x="1954212" y="472678"/>
            <a:ext cx="18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0"/>
          <p:cNvSpPr txBox="1"/>
          <p:nvPr/>
        </p:nvSpPr>
        <p:spPr>
          <a:xfrm>
            <a:off x="1060050" y="717850"/>
            <a:ext cx="7985100" cy="3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latin typeface="Abel"/>
                <a:ea typeface="Abel"/>
                <a:cs typeface="Abel"/>
                <a:sym typeface="Abel"/>
              </a:rPr>
              <a:t>1) As the habitat operator, I want to see the latest value of each sensor in real time so I can monitor habitat conditions.</a:t>
            </a:r>
            <a:endParaRPr sz="1300"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latin typeface="Abel"/>
                <a:ea typeface="Abel"/>
                <a:cs typeface="Abel"/>
                <a:sym typeface="Abel"/>
              </a:rPr>
              <a:t>2) As the habitat operator, I want to see the current state of all actuators so I know what is active.</a:t>
            </a:r>
            <a:endParaRPr sz="1300"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latin typeface="Abel"/>
                <a:ea typeface="Abel"/>
                <a:cs typeface="Abel"/>
                <a:sym typeface="Abel"/>
              </a:rPr>
              <a:t>3) As the habitat operator, I want the system to modify the state of actuators if the state conditions go out of normal ranges.</a:t>
            </a:r>
            <a:endParaRPr sz="1300"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latin typeface="Abel"/>
                <a:ea typeface="Abel"/>
                <a:cs typeface="Abel"/>
                <a:sym typeface="Abel"/>
              </a:rPr>
              <a:t>4) As the habitat operator, I want to see when an actuator was last updated so I know whether the state is recent.</a:t>
            </a:r>
            <a:endParaRPr sz="1300"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latin typeface="Abel"/>
                <a:ea typeface="Abel"/>
                <a:cs typeface="Abel"/>
                <a:sym typeface="Abel"/>
              </a:rPr>
              <a:t>5) As the habitat operator, I want to toggle and untoggle actuators so that i can regulate habitat conditions also manually.</a:t>
            </a:r>
            <a:endParaRPr sz="1300"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latin typeface="Abel"/>
                <a:ea typeface="Abel"/>
                <a:cs typeface="Abel"/>
                <a:sym typeface="Abel"/>
              </a:rPr>
              <a:t>6) As the habitat operator, I want to create automation rules so that the system can react automatically to sensor changes.</a:t>
            </a:r>
            <a:endParaRPr sz="1300"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latin typeface="Abel"/>
                <a:ea typeface="Abel"/>
                <a:cs typeface="Abel"/>
                <a:sym typeface="Abel"/>
              </a:rPr>
              <a:t>7) As the habitat operator, I want to update rules in real time so that i can regulate the habit conditions to my liking.</a:t>
            </a:r>
            <a:endParaRPr sz="1300"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latin typeface="Abel"/>
                <a:ea typeface="Abel"/>
                <a:cs typeface="Abel"/>
                <a:sym typeface="Abel"/>
              </a:rPr>
              <a:t>8) As the habitat operator, I want to toggle and untoggle rules in real time so that i can regulate the habitat conditions to my liking.</a:t>
            </a:r>
            <a:endParaRPr sz="1300"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latin typeface="Abel"/>
                <a:ea typeface="Abel"/>
                <a:cs typeface="Abel"/>
                <a:sym typeface="Abel"/>
              </a:rPr>
              <a:t>9) As the habitat operator, I want the rules to be persistent so that they can survive system failures and restarts.</a:t>
            </a:r>
            <a:endParaRPr sz="1300"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latin typeface="Abel"/>
                <a:ea typeface="Abel"/>
                <a:cs typeface="Abel"/>
                <a:sym typeface="Abel"/>
              </a:rPr>
              <a:t>10) As the habitat operator, I want to receive visual alerts when sensor values exceed critical thresholds so that I can react quickly.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1" title="Screenshot (3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847" y="1037875"/>
            <a:ext cx="3920982" cy="3072451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 txBox="1"/>
          <p:nvPr>
            <p:ph idx="10" type="dt"/>
          </p:nvPr>
        </p:nvSpPr>
        <p:spPr>
          <a:xfrm>
            <a:off x="4343400" y="4611284"/>
            <a:ext cx="19050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/>
              <a:t>11/03/2026</a:t>
            </a:r>
            <a:endParaRPr sz="100"/>
          </a:p>
        </p:txBody>
      </p:sp>
      <p:sp>
        <p:nvSpPr>
          <p:cNvPr id="119" name="Google Shape;119;p21"/>
          <p:cNvSpPr txBox="1"/>
          <p:nvPr>
            <p:ph idx="11" type="ftr"/>
          </p:nvPr>
        </p:nvSpPr>
        <p:spPr>
          <a:xfrm>
            <a:off x="1219200" y="4611281"/>
            <a:ext cx="28956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/>
              <a:t>HackSauce</a:t>
            </a:r>
            <a:r>
              <a:rPr b="0" i="0" lang="it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</p:txBody>
      </p:sp>
      <p:sp>
        <p:nvSpPr>
          <p:cNvPr id="120" name="Google Shape;120;p21"/>
          <p:cNvSpPr txBox="1"/>
          <p:nvPr>
            <p:ph idx="12" type="sldNum"/>
          </p:nvPr>
        </p:nvSpPr>
        <p:spPr>
          <a:xfrm>
            <a:off x="6553200" y="4611281"/>
            <a:ext cx="19050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/>
              <a:t>Page 4</a:t>
            </a:r>
            <a:endParaRPr sz="200"/>
          </a:p>
        </p:txBody>
      </p:sp>
      <p:sp>
        <p:nvSpPr>
          <p:cNvPr id="121" name="Google Shape;121;p21"/>
          <p:cNvSpPr txBox="1"/>
          <p:nvPr>
            <p:ph idx="4294967295" type="title"/>
          </p:nvPr>
        </p:nvSpPr>
        <p:spPr>
          <a:xfrm>
            <a:off x="1105625" y="202591"/>
            <a:ext cx="74169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it" sz="3600">
                <a:latin typeface="Abel"/>
                <a:ea typeface="Abel"/>
                <a:cs typeface="Abel"/>
                <a:sym typeface="Abel"/>
              </a:rPr>
              <a:t>LO-FI MOCKUP (1):</a:t>
            </a:r>
            <a:endParaRPr sz="3600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1954212" y="472678"/>
            <a:ext cx="18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21" title="Screenshot (30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7656" y="1035525"/>
            <a:ext cx="4080745" cy="307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/>
          <p:nvPr/>
        </p:nvSpPr>
        <p:spPr>
          <a:xfrm>
            <a:off x="3520875" y="3312825"/>
            <a:ext cx="441000" cy="131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5" name="Google Shape;125;p21"/>
          <p:cNvCxnSpPr>
            <a:stCxn id="124" idx="3"/>
          </p:cNvCxnSpPr>
          <p:nvPr/>
        </p:nvCxnSpPr>
        <p:spPr>
          <a:xfrm flipH="1" rot="10800000">
            <a:off x="3961875" y="3246975"/>
            <a:ext cx="801000" cy="1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" name="Google Shape;126;p21"/>
          <p:cNvSpPr txBox="1"/>
          <p:nvPr/>
        </p:nvSpPr>
        <p:spPr>
          <a:xfrm>
            <a:off x="848750" y="4191400"/>
            <a:ext cx="78441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Abel"/>
                <a:ea typeface="Abel"/>
                <a:cs typeface="Abel"/>
                <a:sym typeface="Abel"/>
              </a:rPr>
              <a:t>User stories covered: 1, 2, 3, 4, 5, 6, 10</a:t>
            </a:r>
            <a:endParaRPr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127" name="Google Shape;127;p21"/>
          <p:cNvSpPr/>
          <p:nvPr/>
        </p:nvSpPr>
        <p:spPr>
          <a:xfrm>
            <a:off x="3124921" y="3312825"/>
            <a:ext cx="213000" cy="150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>
            <p:ph idx="10" type="dt"/>
          </p:nvPr>
        </p:nvSpPr>
        <p:spPr>
          <a:xfrm>
            <a:off x="4343400" y="4611284"/>
            <a:ext cx="19050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/>
              <a:t>11/03/2026</a:t>
            </a:r>
            <a:endParaRPr sz="100"/>
          </a:p>
        </p:txBody>
      </p:sp>
      <p:sp>
        <p:nvSpPr>
          <p:cNvPr id="134" name="Google Shape;134;p22"/>
          <p:cNvSpPr txBox="1"/>
          <p:nvPr>
            <p:ph idx="11" type="ftr"/>
          </p:nvPr>
        </p:nvSpPr>
        <p:spPr>
          <a:xfrm>
            <a:off x="1219200" y="4611281"/>
            <a:ext cx="28956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/>
              <a:t>HackSauce</a:t>
            </a:r>
            <a:r>
              <a:rPr b="0" i="0" lang="it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</p:txBody>
      </p:sp>
      <p:sp>
        <p:nvSpPr>
          <p:cNvPr id="135" name="Google Shape;135;p22"/>
          <p:cNvSpPr txBox="1"/>
          <p:nvPr>
            <p:ph idx="12" type="sldNum"/>
          </p:nvPr>
        </p:nvSpPr>
        <p:spPr>
          <a:xfrm>
            <a:off x="6553200" y="4611281"/>
            <a:ext cx="19050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/>
              <a:t>Page 5</a:t>
            </a:r>
            <a:endParaRPr sz="200"/>
          </a:p>
        </p:txBody>
      </p:sp>
      <p:sp>
        <p:nvSpPr>
          <p:cNvPr id="136" name="Google Shape;136;p22"/>
          <p:cNvSpPr txBox="1"/>
          <p:nvPr>
            <p:ph idx="4294967295" type="title"/>
          </p:nvPr>
        </p:nvSpPr>
        <p:spPr>
          <a:xfrm>
            <a:off x="1105625" y="202591"/>
            <a:ext cx="74169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it" sz="3600">
                <a:latin typeface="Abel"/>
                <a:ea typeface="Abel"/>
                <a:cs typeface="Abel"/>
                <a:sym typeface="Abel"/>
              </a:rPr>
              <a:t>LO-FI MOCKUP (2):</a:t>
            </a:r>
            <a:endParaRPr sz="3600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137" name="Google Shape;137;p22"/>
          <p:cNvSpPr txBox="1"/>
          <p:nvPr/>
        </p:nvSpPr>
        <p:spPr>
          <a:xfrm>
            <a:off x="1954212" y="472678"/>
            <a:ext cx="18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22" title="Screenshot (30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700" y="1042465"/>
            <a:ext cx="3968499" cy="2987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2" title="Screenshot (3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5900" y="1051925"/>
            <a:ext cx="4033326" cy="303964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2"/>
          <p:cNvSpPr/>
          <p:nvPr/>
        </p:nvSpPr>
        <p:spPr>
          <a:xfrm>
            <a:off x="3368000" y="3112400"/>
            <a:ext cx="495300" cy="165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1" name="Google Shape;141;p22"/>
          <p:cNvCxnSpPr>
            <a:stCxn id="140" idx="3"/>
          </p:cNvCxnSpPr>
          <p:nvPr/>
        </p:nvCxnSpPr>
        <p:spPr>
          <a:xfrm flipH="1" rot="10800000">
            <a:off x="3863300" y="3041900"/>
            <a:ext cx="1000200" cy="153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" name="Google Shape;142;p22"/>
          <p:cNvSpPr/>
          <p:nvPr/>
        </p:nvSpPr>
        <p:spPr>
          <a:xfrm>
            <a:off x="7837044" y="2673344"/>
            <a:ext cx="453600" cy="153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3" name="Google Shape;143;p22"/>
          <p:cNvCxnSpPr>
            <a:stCxn id="142" idx="1"/>
          </p:cNvCxnSpPr>
          <p:nvPr/>
        </p:nvCxnSpPr>
        <p:spPr>
          <a:xfrm rot="10800000">
            <a:off x="4304244" y="2192444"/>
            <a:ext cx="3532800" cy="55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" name="Google Shape;144;p22"/>
          <p:cNvSpPr txBox="1"/>
          <p:nvPr/>
        </p:nvSpPr>
        <p:spPr>
          <a:xfrm>
            <a:off x="848750" y="4191400"/>
            <a:ext cx="78441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Abel"/>
                <a:ea typeface="Abel"/>
                <a:cs typeface="Abel"/>
                <a:sym typeface="Abel"/>
              </a:rPr>
              <a:t>User stories covered: 6, 7</a:t>
            </a:r>
            <a:endParaRPr>
              <a:latin typeface="Abel"/>
              <a:ea typeface="Abel"/>
              <a:cs typeface="Abel"/>
              <a:sym typeface="Abe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idx="10" type="dt"/>
          </p:nvPr>
        </p:nvSpPr>
        <p:spPr>
          <a:xfrm>
            <a:off x="4343400" y="4611284"/>
            <a:ext cx="19050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/>
              <a:t>11/03/2026</a:t>
            </a:r>
            <a:endParaRPr sz="100"/>
          </a:p>
        </p:txBody>
      </p:sp>
      <p:sp>
        <p:nvSpPr>
          <p:cNvPr id="151" name="Google Shape;151;p23"/>
          <p:cNvSpPr txBox="1"/>
          <p:nvPr>
            <p:ph idx="11" type="ftr"/>
          </p:nvPr>
        </p:nvSpPr>
        <p:spPr>
          <a:xfrm>
            <a:off x="1219200" y="4611281"/>
            <a:ext cx="28956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/>
              <a:t>HackSauce</a:t>
            </a:r>
            <a:r>
              <a:rPr b="0" i="0" lang="it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</p:txBody>
      </p:sp>
      <p:sp>
        <p:nvSpPr>
          <p:cNvPr id="152" name="Google Shape;152;p23"/>
          <p:cNvSpPr txBox="1"/>
          <p:nvPr>
            <p:ph idx="12" type="sldNum"/>
          </p:nvPr>
        </p:nvSpPr>
        <p:spPr>
          <a:xfrm>
            <a:off x="6553200" y="4611281"/>
            <a:ext cx="19050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/>
              <a:t>Page 6</a:t>
            </a:r>
            <a:endParaRPr sz="200"/>
          </a:p>
        </p:txBody>
      </p:sp>
      <p:sp>
        <p:nvSpPr>
          <p:cNvPr id="153" name="Google Shape;153;p23"/>
          <p:cNvSpPr txBox="1"/>
          <p:nvPr>
            <p:ph idx="4294967295" type="title"/>
          </p:nvPr>
        </p:nvSpPr>
        <p:spPr>
          <a:xfrm>
            <a:off x="1105625" y="202591"/>
            <a:ext cx="74169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it" sz="3600">
                <a:latin typeface="Abel"/>
                <a:ea typeface="Abel"/>
                <a:cs typeface="Abel"/>
                <a:sym typeface="Abel"/>
              </a:rPr>
              <a:t>LO-FI MOCKUP (3):</a:t>
            </a:r>
            <a:endParaRPr sz="3600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154" name="Google Shape;154;p23"/>
          <p:cNvSpPr txBox="1"/>
          <p:nvPr/>
        </p:nvSpPr>
        <p:spPr>
          <a:xfrm>
            <a:off x="1954212" y="472678"/>
            <a:ext cx="18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23" title="Screenshot (3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675" y="951325"/>
            <a:ext cx="2895600" cy="2182224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3"/>
          <p:cNvSpPr/>
          <p:nvPr/>
        </p:nvSpPr>
        <p:spPr>
          <a:xfrm>
            <a:off x="2597825" y="1880470"/>
            <a:ext cx="105300" cy="104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3" title="Screenshot (3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9700" y="631000"/>
            <a:ext cx="2629205" cy="19814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" name="Google Shape;158;p23"/>
          <p:cNvCxnSpPr>
            <a:stCxn id="156" idx="3"/>
            <a:endCxn id="157" idx="1"/>
          </p:cNvCxnSpPr>
          <p:nvPr/>
        </p:nvCxnSpPr>
        <p:spPr>
          <a:xfrm flipH="1" rot="10800000">
            <a:off x="2703125" y="1621720"/>
            <a:ext cx="2396700" cy="3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" name="Google Shape;159;p23"/>
          <p:cNvSpPr/>
          <p:nvPr/>
        </p:nvSpPr>
        <p:spPr>
          <a:xfrm>
            <a:off x="6992359" y="1499693"/>
            <a:ext cx="45600" cy="48300"/>
          </a:xfrm>
          <a:prstGeom prst="rect">
            <a:avLst/>
          </a:prstGeom>
          <a:solidFill>
            <a:srgbClr val="FFFFFF"/>
          </a:solidFill>
          <a:ln cap="flat" cmpd="sng" w="9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375" lIns="88375" spcFirstLastPara="1" rIns="88375" wrap="square" tIns="88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3"/>
          </a:p>
        </p:txBody>
      </p:sp>
      <p:sp>
        <p:nvSpPr>
          <p:cNvPr id="160" name="Google Shape;160;p23"/>
          <p:cNvSpPr/>
          <p:nvPr/>
        </p:nvSpPr>
        <p:spPr>
          <a:xfrm>
            <a:off x="1767725" y="2612439"/>
            <a:ext cx="370800" cy="153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23" title="LoFi_Screen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4800" y="2612443"/>
            <a:ext cx="2368626" cy="18954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" name="Google Shape;162;p23"/>
          <p:cNvCxnSpPr>
            <a:stCxn id="160" idx="3"/>
          </p:cNvCxnSpPr>
          <p:nvPr/>
        </p:nvCxnSpPr>
        <p:spPr>
          <a:xfrm>
            <a:off x="2138525" y="2688939"/>
            <a:ext cx="1973100" cy="53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3" name="Google Shape;163;p23"/>
          <p:cNvSpPr txBox="1"/>
          <p:nvPr/>
        </p:nvSpPr>
        <p:spPr>
          <a:xfrm>
            <a:off x="848750" y="4191400"/>
            <a:ext cx="28956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Abel"/>
                <a:ea typeface="Abel"/>
                <a:cs typeface="Abel"/>
                <a:sym typeface="Abel"/>
              </a:rPr>
              <a:t>User stories covered: 8, 9</a:t>
            </a:r>
            <a:endParaRPr>
              <a:latin typeface="Abel"/>
              <a:ea typeface="Abel"/>
              <a:cs typeface="Abel"/>
              <a:sym typeface="Abe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/>
          <p:nvPr>
            <p:ph idx="10" type="dt"/>
          </p:nvPr>
        </p:nvSpPr>
        <p:spPr>
          <a:xfrm>
            <a:off x="4343400" y="4611284"/>
            <a:ext cx="19050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/>
              <a:t>11/03/2026</a:t>
            </a:r>
            <a:endParaRPr sz="100"/>
          </a:p>
        </p:txBody>
      </p:sp>
      <p:sp>
        <p:nvSpPr>
          <p:cNvPr id="170" name="Google Shape;170;p24"/>
          <p:cNvSpPr txBox="1"/>
          <p:nvPr>
            <p:ph idx="11" type="ftr"/>
          </p:nvPr>
        </p:nvSpPr>
        <p:spPr>
          <a:xfrm>
            <a:off x="1219200" y="4611281"/>
            <a:ext cx="28956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/>
              <a:t>HackSauce</a:t>
            </a:r>
            <a:r>
              <a:rPr b="0" i="0" lang="it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</p:txBody>
      </p:sp>
      <p:sp>
        <p:nvSpPr>
          <p:cNvPr id="171" name="Google Shape;171;p24"/>
          <p:cNvSpPr txBox="1"/>
          <p:nvPr>
            <p:ph idx="12" type="sldNum"/>
          </p:nvPr>
        </p:nvSpPr>
        <p:spPr>
          <a:xfrm>
            <a:off x="6553200" y="4611281"/>
            <a:ext cx="19050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/>
              <a:t>Page 7</a:t>
            </a:r>
            <a:endParaRPr sz="200"/>
          </a:p>
        </p:txBody>
      </p:sp>
      <p:sp>
        <p:nvSpPr>
          <p:cNvPr id="172" name="Google Shape;172;p24"/>
          <p:cNvSpPr txBox="1"/>
          <p:nvPr>
            <p:ph idx="4294967295" type="title"/>
          </p:nvPr>
        </p:nvSpPr>
        <p:spPr>
          <a:xfrm>
            <a:off x="1105625" y="202591"/>
            <a:ext cx="74169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it" sz="36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SYSTEM ARCHITECTURE:</a:t>
            </a:r>
            <a:endParaRPr sz="360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3600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173" name="Google Shape;173;p24"/>
          <p:cNvSpPr/>
          <p:nvPr/>
        </p:nvSpPr>
        <p:spPr>
          <a:xfrm>
            <a:off x="217075" y="2004447"/>
            <a:ext cx="1230900" cy="567300"/>
          </a:xfrm>
          <a:prstGeom prst="roundRect">
            <a:avLst>
              <a:gd fmla="val 16667" name="adj"/>
            </a:avLst>
          </a:prstGeom>
          <a:noFill/>
          <a:ln cap="flat" cmpd="sng" w="2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053">
                <a:latin typeface="Abel"/>
                <a:ea typeface="Abel"/>
                <a:cs typeface="Abel"/>
                <a:sym typeface="Abel"/>
              </a:rPr>
              <a:t>-Sensors</a:t>
            </a:r>
            <a:endParaRPr sz="1053"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053">
                <a:latin typeface="Abel"/>
                <a:ea typeface="Abel"/>
                <a:cs typeface="Abel"/>
                <a:sym typeface="Abel"/>
              </a:rPr>
              <a:t>-Actuators</a:t>
            </a:r>
            <a:endParaRPr sz="1053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174" name="Google Shape;174;p24"/>
          <p:cNvSpPr txBox="1"/>
          <p:nvPr/>
        </p:nvSpPr>
        <p:spPr>
          <a:xfrm>
            <a:off x="443646" y="1743840"/>
            <a:ext cx="777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4">
                <a:latin typeface="Abel"/>
                <a:ea typeface="Abel"/>
                <a:cs typeface="Abel"/>
                <a:sym typeface="Abel"/>
              </a:rPr>
              <a:t>Simulator</a:t>
            </a:r>
            <a:endParaRPr b="1" sz="1204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175" name="Google Shape;175;p24"/>
          <p:cNvSpPr/>
          <p:nvPr/>
        </p:nvSpPr>
        <p:spPr>
          <a:xfrm>
            <a:off x="1954200" y="2004447"/>
            <a:ext cx="1230900" cy="567300"/>
          </a:xfrm>
          <a:prstGeom prst="roundRect">
            <a:avLst>
              <a:gd fmla="val 16667" name="adj"/>
            </a:avLst>
          </a:prstGeom>
          <a:noFill/>
          <a:ln cap="flat" cmpd="sng" w="2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053">
                <a:latin typeface="Abel"/>
                <a:ea typeface="Abel"/>
                <a:cs typeface="Abel"/>
                <a:sym typeface="Abel"/>
              </a:rPr>
              <a:t>-Rest Client</a:t>
            </a:r>
            <a:endParaRPr sz="1053"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053">
                <a:latin typeface="Abel"/>
                <a:ea typeface="Abel"/>
                <a:cs typeface="Abel"/>
                <a:sym typeface="Abel"/>
              </a:rPr>
              <a:t>-Normalization</a:t>
            </a:r>
            <a:endParaRPr sz="1053"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053">
                <a:latin typeface="Abel"/>
                <a:ea typeface="Abel"/>
                <a:cs typeface="Abel"/>
                <a:sym typeface="Abel"/>
              </a:rPr>
              <a:t>-Producer</a:t>
            </a:r>
            <a:endParaRPr sz="1053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176" name="Google Shape;176;p24"/>
          <p:cNvSpPr txBox="1"/>
          <p:nvPr/>
        </p:nvSpPr>
        <p:spPr>
          <a:xfrm>
            <a:off x="1979602" y="1743850"/>
            <a:ext cx="1155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4">
                <a:latin typeface="Abel"/>
                <a:ea typeface="Abel"/>
                <a:cs typeface="Abel"/>
                <a:sym typeface="Abel"/>
              </a:rPr>
              <a:t>Ingestion Service</a:t>
            </a:r>
            <a:endParaRPr b="1" sz="1204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177" name="Google Shape;177;p24"/>
          <p:cNvSpPr/>
          <p:nvPr/>
        </p:nvSpPr>
        <p:spPr>
          <a:xfrm>
            <a:off x="3691325" y="2004447"/>
            <a:ext cx="1230900" cy="567300"/>
          </a:xfrm>
          <a:prstGeom prst="roundRect">
            <a:avLst>
              <a:gd fmla="val 16667" name="adj"/>
            </a:avLst>
          </a:prstGeom>
          <a:noFill/>
          <a:ln cap="flat" cmpd="sng" w="2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053">
                <a:latin typeface="Abel"/>
                <a:ea typeface="Abel"/>
                <a:cs typeface="Abel"/>
                <a:sym typeface="Abel"/>
              </a:rPr>
              <a:t>-Queue</a:t>
            </a:r>
            <a:endParaRPr sz="1053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178" name="Google Shape;178;p24"/>
          <p:cNvSpPr txBox="1"/>
          <p:nvPr/>
        </p:nvSpPr>
        <p:spPr>
          <a:xfrm>
            <a:off x="3917896" y="1743840"/>
            <a:ext cx="777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4">
                <a:latin typeface="Abel"/>
                <a:ea typeface="Abel"/>
                <a:cs typeface="Abel"/>
                <a:sym typeface="Abel"/>
              </a:rPr>
              <a:t>ActiveMQ</a:t>
            </a:r>
            <a:endParaRPr b="1" sz="1204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179" name="Google Shape;179;p24"/>
          <p:cNvSpPr/>
          <p:nvPr/>
        </p:nvSpPr>
        <p:spPr>
          <a:xfrm>
            <a:off x="5428450" y="2004447"/>
            <a:ext cx="1230900" cy="567300"/>
          </a:xfrm>
          <a:prstGeom prst="roundRect">
            <a:avLst>
              <a:gd fmla="val 16667" name="adj"/>
            </a:avLst>
          </a:prstGeom>
          <a:noFill/>
          <a:ln cap="flat" cmpd="sng" w="2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053">
                <a:latin typeface="Abel"/>
                <a:ea typeface="Abel"/>
                <a:cs typeface="Abel"/>
                <a:sym typeface="Abel"/>
              </a:rPr>
              <a:t>-Caching</a:t>
            </a:r>
            <a:endParaRPr sz="1053"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053">
                <a:latin typeface="Abel"/>
                <a:ea typeface="Abel"/>
                <a:cs typeface="Abel"/>
                <a:sym typeface="Abel"/>
              </a:rPr>
              <a:t>-Automation Rules</a:t>
            </a:r>
            <a:endParaRPr sz="1053"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053">
                <a:latin typeface="Abel"/>
                <a:ea typeface="Abel"/>
                <a:cs typeface="Abel"/>
                <a:sym typeface="Abel"/>
              </a:rPr>
              <a:t>-Rest API</a:t>
            </a:r>
            <a:endParaRPr sz="1053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180" name="Google Shape;180;p24"/>
          <p:cNvSpPr txBox="1"/>
          <p:nvPr/>
        </p:nvSpPr>
        <p:spPr>
          <a:xfrm>
            <a:off x="5388400" y="1743850"/>
            <a:ext cx="1321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4">
                <a:latin typeface="Abel"/>
                <a:ea typeface="Abel"/>
                <a:cs typeface="Abel"/>
                <a:sym typeface="Abel"/>
              </a:rPr>
              <a:t>Processing Service</a:t>
            </a:r>
            <a:endParaRPr b="1" sz="1204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181" name="Google Shape;181;p24"/>
          <p:cNvSpPr/>
          <p:nvPr/>
        </p:nvSpPr>
        <p:spPr>
          <a:xfrm>
            <a:off x="7165575" y="2004447"/>
            <a:ext cx="1230900" cy="567300"/>
          </a:xfrm>
          <a:prstGeom prst="roundRect">
            <a:avLst>
              <a:gd fmla="val 16667" name="adj"/>
            </a:avLst>
          </a:prstGeom>
          <a:noFill/>
          <a:ln cap="flat" cmpd="sng" w="2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053">
                <a:latin typeface="Abel"/>
                <a:ea typeface="Abel"/>
                <a:cs typeface="Abel"/>
                <a:sym typeface="Abel"/>
              </a:rPr>
              <a:t>-Sensors</a:t>
            </a:r>
            <a:endParaRPr sz="1053"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053">
                <a:latin typeface="Abel"/>
                <a:ea typeface="Abel"/>
                <a:cs typeface="Abel"/>
                <a:sym typeface="Abel"/>
              </a:rPr>
              <a:t>-Actuators</a:t>
            </a:r>
            <a:endParaRPr sz="1053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182" name="Google Shape;182;p24"/>
          <p:cNvSpPr txBox="1"/>
          <p:nvPr/>
        </p:nvSpPr>
        <p:spPr>
          <a:xfrm>
            <a:off x="7392146" y="1743840"/>
            <a:ext cx="777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4">
                <a:latin typeface="Abel"/>
                <a:ea typeface="Abel"/>
                <a:cs typeface="Abel"/>
                <a:sym typeface="Abel"/>
              </a:rPr>
              <a:t>FrontEnd</a:t>
            </a:r>
            <a:endParaRPr b="1" sz="1204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183" name="Google Shape;183;p24"/>
          <p:cNvSpPr/>
          <p:nvPr/>
        </p:nvSpPr>
        <p:spPr>
          <a:xfrm>
            <a:off x="5428450" y="3715472"/>
            <a:ext cx="1230900" cy="567300"/>
          </a:xfrm>
          <a:prstGeom prst="roundRect">
            <a:avLst>
              <a:gd fmla="val 16667" name="adj"/>
            </a:avLst>
          </a:prstGeom>
          <a:noFill/>
          <a:ln cap="flat" cmpd="sng" w="2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053">
                <a:latin typeface="Abel"/>
                <a:ea typeface="Abel"/>
                <a:cs typeface="Abel"/>
                <a:sym typeface="Abel"/>
              </a:rPr>
              <a:t>– Automation Rules</a:t>
            </a:r>
            <a:endParaRPr sz="1053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184" name="Google Shape;184;p24"/>
          <p:cNvSpPr txBox="1"/>
          <p:nvPr/>
        </p:nvSpPr>
        <p:spPr>
          <a:xfrm>
            <a:off x="5573501" y="3461150"/>
            <a:ext cx="9408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4">
                <a:latin typeface="Abel"/>
                <a:ea typeface="Abel"/>
                <a:cs typeface="Abel"/>
                <a:sym typeface="Abel"/>
              </a:rPr>
              <a:t>PostgreSQL</a:t>
            </a:r>
            <a:endParaRPr b="1" sz="1204">
              <a:latin typeface="Abel"/>
              <a:ea typeface="Abel"/>
              <a:cs typeface="Abel"/>
              <a:sym typeface="Abel"/>
            </a:endParaRPr>
          </a:p>
        </p:txBody>
      </p:sp>
      <p:cxnSp>
        <p:nvCxnSpPr>
          <p:cNvPr id="185" name="Google Shape;185;p24"/>
          <p:cNvCxnSpPr>
            <a:stCxn id="184" idx="0"/>
            <a:endCxn id="179" idx="2"/>
          </p:cNvCxnSpPr>
          <p:nvPr/>
        </p:nvCxnSpPr>
        <p:spPr>
          <a:xfrm rot="10800000">
            <a:off x="6043901" y="2571650"/>
            <a:ext cx="0" cy="889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" name="Google Shape;186;p24"/>
          <p:cNvCxnSpPr>
            <a:stCxn id="173" idx="3"/>
            <a:endCxn id="175" idx="1"/>
          </p:cNvCxnSpPr>
          <p:nvPr/>
        </p:nvCxnSpPr>
        <p:spPr>
          <a:xfrm>
            <a:off x="1447975" y="2288097"/>
            <a:ext cx="506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" name="Google Shape;187;p24"/>
          <p:cNvCxnSpPr>
            <a:endCxn id="177" idx="1"/>
          </p:cNvCxnSpPr>
          <p:nvPr/>
        </p:nvCxnSpPr>
        <p:spPr>
          <a:xfrm>
            <a:off x="3215825" y="2288097"/>
            <a:ext cx="475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" name="Google Shape;188;p24"/>
          <p:cNvCxnSpPr/>
          <p:nvPr/>
        </p:nvCxnSpPr>
        <p:spPr>
          <a:xfrm>
            <a:off x="4922225" y="2288097"/>
            <a:ext cx="506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" name="Google Shape;189;p24"/>
          <p:cNvCxnSpPr/>
          <p:nvPr/>
        </p:nvCxnSpPr>
        <p:spPr>
          <a:xfrm>
            <a:off x="6659350" y="2288097"/>
            <a:ext cx="506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" name="Google Shape;190;p24"/>
          <p:cNvCxnSpPr>
            <a:stCxn id="181" idx="2"/>
            <a:endCxn id="183" idx="3"/>
          </p:cNvCxnSpPr>
          <p:nvPr/>
        </p:nvCxnSpPr>
        <p:spPr>
          <a:xfrm rot="5400000">
            <a:off x="6506475" y="2724597"/>
            <a:ext cx="1427400" cy="1121700"/>
          </a:xfrm>
          <a:prstGeom prst="bentConnector2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" name="Google Shape;191;p24"/>
          <p:cNvCxnSpPr>
            <a:stCxn id="182" idx="0"/>
            <a:endCxn id="174" idx="0"/>
          </p:cNvCxnSpPr>
          <p:nvPr/>
        </p:nvCxnSpPr>
        <p:spPr>
          <a:xfrm rot="5400000">
            <a:off x="4306496" y="-1730160"/>
            <a:ext cx="600" cy="6948600"/>
          </a:xfrm>
          <a:prstGeom prst="bentConnector3">
            <a:avLst>
              <a:gd fmla="val -87544096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" name="Google Shape;192;p24"/>
          <p:cNvCxnSpPr>
            <a:stCxn id="180" idx="0"/>
          </p:cNvCxnSpPr>
          <p:nvPr/>
        </p:nvCxnSpPr>
        <p:spPr>
          <a:xfrm flipH="1" rot="10800000">
            <a:off x="6049000" y="1225750"/>
            <a:ext cx="1500" cy="518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/>
          <p:nvPr>
            <p:ph idx="10" type="dt"/>
          </p:nvPr>
        </p:nvSpPr>
        <p:spPr>
          <a:xfrm>
            <a:off x="4343400" y="4611284"/>
            <a:ext cx="19050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/>
              <a:t>11/03/2026</a:t>
            </a:r>
            <a:endParaRPr sz="100"/>
          </a:p>
        </p:txBody>
      </p:sp>
      <p:sp>
        <p:nvSpPr>
          <p:cNvPr id="199" name="Google Shape;199;p25"/>
          <p:cNvSpPr txBox="1"/>
          <p:nvPr>
            <p:ph idx="11" type="ftr"/>
          </p:nvPr>
        </p:nvSpPr>
        <p:spPr>
          <a:xfrm>
            <a:off x="1219200" y="4611281"/>
            <a:ext cx="28956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/>
              <a:t>HackSauce</a:t>
            </a:r>
            <a:r>
              <a:rPr b="0" i="0" lang="it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</p:txBody>
      </p:sp>
      <p:sp>
        <p:nvSpPr>
          <p:cNvPr id="200" name="Google Shape;200;p25"/>
          <p:cNvSpPr txBox="1"/>
          <p:nvPr>
            <p:ph idx="12" type="sldNum"/>
          </p:nvPr>
        </p:nvSpPr>
        <p:spPr>
          <a:xfrm>
            <a:off x="6553200" y="4611281"/>
            <a:ext cx="19050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/>
              <a:t>Page 8</a:t>
            </a:r>
            <a:endParaRPr sz="200"/>
          </a:p>
        </p:txBody>
      </p:sp>
      <p:sp>
        <p:nvSpPr>
          <p:cNvPr id="201" name="Google Shape;201;p25"/>
          <p:cNvSpPr txBox="1"/>
          <p:nvPr>
            <p:ph idx="4294967295" type="title"/>
          </p:nvPr>
        </p:nvSpPr>
        <p:spPr>
          <a:xfrm>
            <a:off x="1105625" y="202591"/>
            <a:ext cx="74169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it" sz="36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NORMALIZED MESSAGE FORMAT</a:t>
            </a:r>
            <a:r>
              <a:rPr lang="it" sz="36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:</a:t>
            </a:r>
            <a:endParaRPr sz="360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360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3600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202" name="Google Shape;202;p25"/>
          <p:cNvSpPr txBox="1"/>
          <p:nvPr/>
        </p:nvSpPr>
        <p:spPr>
          <a:xfrm>
            <a:off x="1219200" y="835650"/>
            <a:ext cx="7023900" cy="3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>
                <a:highlight>
                  <a:schemeClr val="accent3"/>
                </a:highlight>
                <a:latin typeface="Courier New"/>
                <a:ea typeface="Courier New"/>
                <a:cs typeface="Courier New"/>
                <a:sym typeface="Courier New"/>
              </a:rPr>
              <a:t>"type": "object",</a:t>
            </a:r>
            <a:endParaRPr sz="850">
              <a:highlight>
                <a:schemeClr val="accent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>
                <a:highlight>
                  <a:schemeClr val="accent3"/>
                </a:highlight>
                <a:latin typeface="Courier New"/>
                <a:ea typeface="Courier New"/>
                <a:cs typeface="Courier New"/>
                <a:sym typeface="Courier New"/>
              </a:rPr>
              <a:t>"required": ["sensor_id", "captured_at", "measurements", "status"],</a:t>
            </a:r>
            <a:endParaRPr sz="850">
              <a:highlight>
                <a:schemeClr val="accent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>
                <a:highlight>
                  <a:schemeClr val="accent3"/>
                </a:highlight>
                <a:latin typeface="Courier New"/>
                <a:ea typeface="Courier New"/>
                <a:cs typeface="Courier New"/>
                <a:sym typeface="Courier New"/>
              </a:rPr>
              <a:t>"properties": {</a:t>
            </a:r>
            <a:endParaRPr sz="850">
              <a:highlight>
                <a:schemeClr val="accent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>
                <a:highlight>
                  <a:schemeClr val="accent3"/>
                </a:highlight>
                <a:latin typeface="Courier New"/>
                <a:ea typeface="Courier New"/>
                <a:cs typeface="Courier New"/>
                <a:sym typeface="Courier New"/>
              </a:rPr>
              <a:t>  "sensor_id": { "type": "string" },</a:t>
            </a:r>
            <a:endParaRPr sz="850">
              <a:highlight>
                <a:schemeClr val="accent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>
                <a:highlight>
                  <a:schemeClr val="accent3"/>
                </a:highlight>
                <a:latin typeface="Courier New"/>
                <a:ea typeface="Courier New"/>
                <a:cs typeface="Courier New"/>
                <a:sym typeface="Courier New"/>
              </a:rPr>
              <a:t>  "captured_at": { "type": "string", "format": "date-time" },</a:t>
            </a:r>
            <a:endParaRPr sz="850">
              <a:highlight>
                <a:schemeClr val="accent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>
                <a:highlight>
                  <a:schemeClr val="accent3"/>
                </a:highlight>
                <a:latin typeface="Courier New"/>
                <a:ea typeface="Courier New"/>
                <a:cs typeface="Courier New"/>
                <a:sym typeface="Courier New"/>
              </a:rPr>
              <a:t>  "measurements": {</a:t>
            </a:r>
            <a:endParaRPr sz="850">
              <a:highlight>
                <a:schemeClr val="accent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>
                <a:highlight>
                  <a:schemeClr val="accent3"/>
                </a:highlight>
                <a:latin typeface="Courier New"/>
                <a:ea typeface="Courier New"/>
                <a:cs typeface="Courier New"/>
                <a:sym typeface="Courier New"/>
              </a:rPr>
              <a:t>    "type": "array",</a:t>
            </a:r>
            <a:endParaRPr sz="850">
              <a:highlight>
                <a:schemeClr val="accent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>
                <a:highlight>
                  <a:schemeClr val="accent3"/>
                </a:highlight>
                <a:latin typeface="Courier New"/>
                <a:ea typeface="Courier New"/>
                <a:cs typeface="Courier New"/>
                <a:sym typeface="Courier New"/>
              </a:rPr>
              <a:t>    "items": {</a:t>
            </a:r>
            <a:endParaRPr sz="850">
              <a:highlight>
                <a:schemeClr val="accent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>
                <a:highlight>
                  <a:schemeClr val="accent3"/>
                </a:highlight>
                <a:latin typeface="Courier New"/>
                <a:ea typeface="Courier New"/>
                <a:cs typeface="Courier New"/>
                <a:sym typeface="Courier New"/>
              </a:rPr>
              <a:t>      "type": "object",</a:t>
            </a:r>
            <a:endParaRPr sz="850">
              <a:highlight>
                <a:schemeClr val="accent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>
                <a:highlight>
                  <a:schemeClr val="accent3"/>
                </a:highlight>
                <a:latin typeface="Courier New"/>
                <a:ea typeface="Courier New"/>
                <a:cs typeface="Courier New"/>
                <a:sym typeface="Courier New"/>
              </a:rPr>
              <a:t>      "required": ["metric", "value", "unit"],</a:t>
            </a:r>
            <a:endParaRPr sz="850">
              <a:highlight>
                <a:schemeClr val="accent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>
                <a:highlight>
                  <a:schemeClr val="accent3"/>
                </a:highlight>
                <a:latin typeface="Courier New"/>
                <a:ea typeface="Courier New"/>
                <a:cs typeface="Courier New"/>
                <a:sym typeface="Courier New"/>
              </a:rPr>
              <a:t>      "properties": {</a:t>
            </a:r>
            <a:endParaRPr sz="850">
              <a:highlight>
                <a:schemeClr val="accent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>
                <a:highlight>
                  <a:schemeClr val="accent3"/>
                </a:highlight>
                <a:latin typeface="Courier New"/>
                <a:ea typeface="Courier New"/>
                <a:cs typeface="Courier New"/>
                <a:sym typeface="Courier New"/>
              </a:rPr>
              <a:t>        "metric": { "type": "string" },</a:t>
            </a:r>
            <a:endParaRPr sz="850">
              <a:highlight>
                <a:schemeClr val="accent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>
                <a:highlight>
                  <a:schemeClr val="accent3"/>
                </a:highlight>
                <a:latin typeface="Courier New"/>
                <a:ea typeface="Courier New"/>
                <a:cs typeface="Courier New"/>
                <a:sym typeface="Courier New"/>
              </a:rPr>
              <a:t>        "value": { "type": "number" },</a:t>
            </a:r>
            <a:endParaRPr sz="850">
              <a:highlight>
                <a:schemeClr val="accent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>
                <a:highlight>
                  <a:schemeClr val="accent3"/>
                </a:highlight>
                <a:latin typeface="Courier New"/>
                <a:ea typeface="Courier New"/>
                <a:cs typeface="Courier New"/>
                <a:sym typeface="Courier New"/>
              </a:rPr>
              <a:t>        "unit": { "type": "string" }</a:t>
            </a:r>
            <a:endParaRPr sz="850">
              <a:highlight>
                <a:schemeClr val="accent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>
                <a:highlight>
                  <a:schemeClr val="accent3"/>
                </a:highlight>
                <a:latin typeface="Courier New"/>
                <a:ea typeface="Courier New"/>
                <a:cs typeface="Courier New"/>
                <a:sym typeface="Courier New"/>
              </a:rPr>
              <a:t>      }</a:t>
            </a:r>
            <a:endParaRPr sz="850">
              <a:highlight>
                <a:schemeClr val="accent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>
                <a:highlight>
                  <a:schemeClr val="accent3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850">
              <a:highlight>
                <a:schemeClr val="accent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>
                <a:highlight>
                  <a:schemeClr val="accent3"/>
                </a:highlight>
                <a:latin typeface="Courier New"/>
                <a:ea typeface="Courier New"/>
                <a:cs typeface="Courier New"/>
                <a:sym typeface="Courier New"/>
              </a:rPr>
              <a:t>  },</a:t>
            </a:r>
            <a:endParaRPr sz="850">
              <a:highlight>
                <a:schemeClr val="accent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>
                <a:highlight>
                  <a:schemeClr val="accent3"/>
                </a:highlight>
                <a:latin typeface="Courier New"/>
                <a:ea typeface="Courier New"/>
                <a:cs typeface="Courier New"/>
                <a:sym typeface="Courier New"/>
              </a:rPr>
              <a:t>  "status": { "type": "string", "enum": ["ok", "warning"] }</a:t>
            </a:r>
            <a:endParaRPr sz="850">
              <a:highlight>
                <a:schemeClr val="accent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>
                <a:highlight>
                  <a:schemeClr val="accent3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/>
          <p:nvPr>
            <p:ph idx="10" type="dt"/>
          </p:nvPr>
        </p:nvSpPr>
        <p:spPr>
          <a:xfrm>
            <a:off x="4343400" y="4611284"/>
            <a:ext cx="19050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/>
              <a:t>11/03/2026</a:t>
            </a:r>
            <a:endParaRPr sz="100"/>
          </a:p>
        </p:txBody>
      </p:sp>
      <p:sp>
        <p:nvSpPr>
          <p:cNvPr id="209" name="Google Shape;209;p26"/>
          <p:cNvSpPr txBox="1"/>
          <p:nvPr>
            <p:ph idx="11" type="ftr"/>
          </p:nvPr>
        </p:nvSpPr>
        <p:spPr>
          <a:xfrm>
            <a:off x="1219200" y="4611281"/>
            <a:ext cx="28956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/>
              <a:t>HackSauce</a:t>
            </a:r>
            <a:r>
              <a:rPr b="0" i="0" lang="it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</p:txBody>
      </p:sp>
      <p:sp>
        <p:nvSpPr>
          <p:cNvPr id="210" name="Google Shape;210;p26"/>
          <p:cNvSpPr txBox="1"/>
          <p:nvPr>
            <p:ph idx="12" type="sldNum"/>
          </p:nvPr>
        </p:nvSpPr>
        <p:spPr>
          <a:xfrm>
            <a:off x="6553200" y="4611281"/>
            <a:ext cx="19050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/>
              <a:t>Page 9</a:t>
            </a:r>
            <a:endParaRPr sz="200"/>
          </a:p>
        </p:txBody>
      </p:sp>
      <p:sp>
        <p:nvSpPr>
          <p:cNvPr id="211" name="Google Shape;211;p26"/>
          <p:cNvSpPr txBox="1"/>
          <p:nvPr>
            <p:ph idx="4294967295" type="title"/>
          </p:nvPr>
        </p:nvSpPr>
        <p:spPr>
          <a:xfrm>
            <a:off x="1105625" y="202591"/>
            <a:ext cx="74169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it" sz="36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INGESTION SERVICE (</a:t>
            </a:r>
            <a:r>
              <a:rPr lang="it" sz="36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SENSOR READING):</a:t>
            </a:r>
            <a:endParaRPr sz="360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360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3600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212" name="Google Shape;212;p26"/>
          <p:cNvSpPr txBox="1"/>
          <p:nvPr/>
        </p:nvSpPr>
        <p:spPr>
          <a:xfrm>
            <a:off x="1954212" y="472678"/>
            <a:ext cx="18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14800" y="1389450"/>
            <a:ext cx="1491900" cy="616500"/>
          </a:xfrm>
          <a:prstGeom prst="roundRect">
            <a:avLst>
              <a:gd fmla="val 16667" name="adj"/>
            </a:avLst>
          </a:prstGeom>
          <a:noFill/>
          <a:ln cap="flat" cmpd="sng" w="42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175" lIns="102175" spcFirstLastPara="1" rIns="102175" wrap="square" tIns="102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65">
                <a:latin typeface="Abel"/>
                <a:ea typeface="Abel"/>
                <a:cs typeface="Abel"/>
                <a:sym typeface="Abel"/>
              </a:rPr>
              <a:t>- </a:t>
            </a:r>
            <a:r>
              <a:rPr lang="it" sz="1565">
                <a:latin typeface="Abel"/>
                <a:ea typeface="Abel"/>
                <a:cs typeface="Abel"/>
                <a:sym typeface="Abel"/>
              </a:rPr>
              <a:t>Sensors</a:t>
            </a:r>
            <a:endParaRPr sz="1565"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65">
                <a:latin typeface="Abel"/>
                <a:ea typeface="Abel"/>
                <a:cs typeface="Abel"/>
                <a:sym typeface="Abel"/>
              </a:rPr>
              <a:t>- Actuators</a:t>
            </a:r>
            <a:endParaRPr sz="1565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214" name="Google Shape;214;p26"/>
          <p:cNvSpPr txBox="1"/>
          <p:nvPr/>
        </p:nvSpPr>
        <p:spPr>
          <a:xfrm>
            <a:off x="983111" y="1002150"/>
            <a:ext cx="11553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2175" lIns="102175" spcFirstLastPara="1" rIns="102175" wrap="square" tIns="102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88">
                <a:latin typeface="Abel"/>
                <a:ea typeface="Abel"/>
                <a:cs typeface="Abel"/>
                <a:sym typeface="Abel"/>
              </a:rPr>
              <a:t>Simulator</a:t>
            </a:r>
            <a:endParaRPr b="1" sz="1488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3657901" y="1276342"/>
            <a:ext cx="1828200" cy="842700"/>
          </a:xfrm>
          <a:prstGeom prst="roundRect">
            <a:avLst>
              <a:gd fmla="val 16667" name="adj"/>
            </a:avLst>
          </a:prstGeom>
          <a:noFill/>
          <a:ln cap="flat" cmpd="sng" w="42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175" lIns="102175" spcFirstLastPara="1" rIns="102175" wrap="square" tIns="102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788">
                <a:latin typeface="Abel"/>
                <a:ea typeface="Abel"/>
                <a:cs typeface="Abel"/>
                <a:sym typeface="Abel"/>
              </a:rPr>
              <a:t>Ingestion Service (sensor reading)</a:t>
            </a:r>
            <a:endParaRPr sz="1565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6759750" y="1389448"/>
            <a:ext cx="1491900" cy="616500"/>
          </a:xfrm>
          <a:prstGeom prst="roundRect">
            <a:avLst>
              <a:gd fmla="val 16667" name="adj"/>
            </a:avLst>
          </a:prstGeom>
          <a:noFill/>
          <a:ln cap="flat" cmpd="sng" w="42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175" lIns="102175" spcFirstLastPara="1" rIns="102175" wrap="square" tIns="102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65">
                <a:latin typeface="Abel"/>
                <a:ea typeface="Abel"/>
                <a:cs typeface="Abel"/>
                <a:sym typeface="Abel"/>
              </a:rPr>
              <a:t>- </a:t>
            </a:r>
            <a:r>
              <a:rPr lang="it" sz="1565">
                <a:latin typeface="Abel"/>
                <a:ea typeface="Abel"/>
                <a:cs typeface="Abel"/>
                <a:sym typeface="Abel"/>
              </a:rPr>
              <a:t>Queue</a:t>
            </a:r>
            <a:endParaRPr sz="1565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217" name="Google Shape;217;p26"/>
          <p:cNvSpPr txBox="1"/>
          <p:nvPr/>
        </p:nvSpPr>
        <p:spPr>
          <a:xfrm>
            <a:off x="6928062" y="1002150"/>
            <a:ext cx="11553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2175" lIns="102175" spcFirstLastPara="1" rIns="102175" wrap="square" tIns="102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88">
                <a:latin typeface="Abel"/>
                <a:ea typeface="Abel"/>
                <a:cs typeface="Abel"/>
                <a:sym typeface="Abel"/>
              </a:rPr>
              <a:t>ActiveMQ</a:t>
            </a:r>
            <a:endParaRPr b="1" sz="1488">
              <a:latin typeface="Abel"/>
              <a:ea typeface="Abel"/>
              <a:cs typeface="Abel"/>
              <a:sym typeface="Abel"/>
            </a:endParaRPr>
          </a:p>
        </p:txBody>
      </p:sp>
      <p:cxnSp>
        <p:nvCxnSpPr>
          <p:cNvPr id="218" name="Google Shape;218;p26"/>
          <p:cNvCxnSpPr>
            <a:stCxn id="213" idx="3"/>
            <a:endCxn id="215" idx="1"/>
          </p:cNvCxnSpPr>
          <p:nvPr/>
        </p:nvCxnSpPr>
        <p:spPr>
          <a:xfrm>
            <a:off x="2306700" y="1697700"/>
            <a:ext cx="1351200" cy="0"/>
          </a:xfrm>
          <a:prstGeom prst="straightConnector1">
            <a:avLst/>
          </a:prstGeom>
          <a:noFill/>
          <a:ln cap="flat" cmpd="sng" w="283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" name="Google Shape;219;p26"/>
          <p:cNvCxnSpPr>
            <a:stCxn id="215" idx="3"/>
            <a:endCxn id="216" idx="1"/>
          </p:cNvCxnSpPr>
          <p:nvPr/>
        </p:nvCxnSpPr>
        <p:spPr>
          <a:xfrm>
            <a:off x="5486101" y="1697692"/>
            <a:ext cx="1273500" cy="0"/>
          </a:xfrm>
          <a:prstGeom prst="straightConnector1">
            <a:avLst/>
          </a:prstGeom>
          <a:noFill/>
          <a:ln cap="flat" cmpd="sng" w="283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" name="Google Shape;220;p26"/>
          <p:cNvCxnSpPr>
            <a:stCxn id="221" idx="0"/>
            <a:endCxn id="215" idx="2"/>
          </p:cNvCxnSpPr>
          <p:nvPr/>
        </p:nvCxnSpPr>
        <p:spPr>
          <a:xfrm flipH="1" rot="10800000">
            <a:off x="2254726" y="2119042"/>
            <a:ext cx="2317200" cy="840300"/>
          </a:xfrm>
          <a:prstGeom prst="straightConnector1">
            <a:avLst/>
          </a:prstGeom>
          <a:noFill/>
          <a:ln cap="flat" cmpd="sng" w="283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1" name="Google Shape;221;p26"/>
          <p:cNvSpPr/>
          <p:nvPr/>
        </p:nvSpPr>
        <p:spPr>
          <a:xfrm>
            <a:off x="1340626" y="2959342"/>
            <a:ext cx="1828200" cy="842700"/>
          </a:xfrm>
          <a:prstGeom prst="roundRect">
            <a:avLst>
              <a:gd fmla="val 16667" name="adj"/>
            </a:avLst>
          </a:prstGeom>
          <a:noFill/>
          <a:ln cap="flat" cmpd="sng" w="42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175" lIns="102175" spcFirstLastPara="1" rIns="102175" wrap="square" tIns="102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65">
                <a:latin typeface="Abel"/>
                <a:ea typeface="Abel"/>
                <a:cs typeface="Abel"/>
                <a:sym typeface="Abel"/>
              </a:rPr>
              <a:t>Message converter</a:t>
            </a:r>
            <a:endParaRPr sz="1565">
              <a:latin typeface="Abel"/>
              <a:ea typeface="Abel"/>
              <a:cs typeface="Abel"/>
              <a:sym typeface="Abel"/>
            </a:endParaRPr>
          </a:p>
        </p:txBody>
      </p:sp>
      <p:cxnSp>
        <p:nvCxnSpPr>
          <p:cNvPr id="222" name="Google Shape;222;p26"/>
          <p:cNvCxnSpPr>
            <a:stCxn id="223" idx="0"/>
            <a:endCxn id="215" idx="2"/>
          </p:cNvCxnSpPr>
          <p:nvPr/>
        </p:nvCxnSpPr>
        <p:spPr>
          <a:xfrm rot="10800000">
            <a:off x="4572000" y="2119050"/>
            <a:ext cx="0" cy="840300"/>
          </a:xfrm>
          <a:prstGeom prst="straightConnector1">
            <a:avLst/>
          </a:prstGeom>
          <a:noFill/>
          <a:ln cap="flat" cmpd="sng" w="283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3" name="Google Shape;223;p26"/>
          <p:cNvSpPr/>
          <p:nvPr/>
        </p:nvSpPr>
        <p:spPr>
          <a:xfrm>
            <a:off x="3490500" y="2959350"/>
            <a:ext cx="2163000" cy="969000"/>
          </a:xfrm>
          <a:prstGeom prst="roundRect">
            <a:avLst>
              <a:gd fmla="val 16667" name="adj"/>
            </a:avLst>
          </a:prstGeom>
          <a:noFill/>
          <a:ln cap="flat" cmpd="sng" w="42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175" lIns="102175" spcFirstLastPara="1" rIns="102175" wrap="square" tIns="102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65">
                <a:latin typeface="Abel"/>
                <a:ea typeface="Abel"/>
                <a:cs typeface="Abel"/>
                <a:sym typeface="Abel"/>
              </a:rPr>
              <a:t>Communication interface with ActiveMQ (Stomp.py)</a:t>
            </a:r>
            <a:endParaRPr sz="1565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224" name="Google Shape;224;p26"/>
          <p:cNvSpPr/>
          <p:nvPr/>
        </p:nvSpPr>
        <p:spPr>
          <a:xfrm>
            <a:off x="5826226" y="2959342"/>
            <a:ext cx="1828200" cy="842700"/>
          </a:xfrm>
          <a:prstGeom prst="roundRect">
            <a:avLst>
              <a:gd fmla="val 16667" name="adj"/>
            </a:avLst>
          </a:prstGeom>
          <a:noFill/>
          <a:ln cap="flat" cmpd="sng" w="42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175" lIns="102175" spcFirstLastPara="1" rIns="102175" wrap="square" tIns="102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65">
                <a:latin typeface="Abel"/>
                <a:ea typeface="Abel"/>
                <a:cs typeface="Abel"/>
                <a:sym typeface="Abel"/>
              </a:rPr>
              <a:t>Producer main</a:t>
            </a:r>
            <a:endParaRPr sz="1565">
              <a:latin typeface="Abel"/>
              <a:ea typeface="Abel"/>
              <a:cs typeface="Abel"/>
              <a:sym typeface="Abel"/>
            </a:endParaRPr>
          </a:p>
        </p:txBody>
      </p:sp>
      <p:cxnSp>
        <p:nvCxnSpPr>
          <p:cNvPr id="225" name="Google Shape;225;p26"/>
          <p:cNvCxnSpPr>
            <a:stCxn id="224" idx="0"/>
            <a:endCxn id="215" idx="2"/>
          </p:cNvCxnSpPr>
          <p:nvPr/>
        </p:nvCxnSpPr>
        <p:spPr>
          <a:xfrm rot="10800000">
            <a:off x="4571926" y="2119042"/>
            <a:ext cx="2168400" cy="840300"/>
          </a:xfrm>
          <a:prstGeom prst="straightConnector1">
            <a:avLst/>
          </a:prstGeom>
          <a:noFill/>
          <a:ln cap="flat" cmpd="sng" w="283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6" name="Google Shape;226;p26"/>
          <p:cNvSpPr txBox="1"/>
          <p:nvPr/>
        </p:nvSpPr>
        <p:spPr>
          <a:xfrm>
            <a:off x="2404661" y="1310400"/>
            <a:ext cx="11553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2175" lIns="102175" spcFirstLastPara="1" rIns="102175" wrap="square" tIns="102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88">
                <a:latin typeface="Abel"/>
                <a:ea typeface="Abel"/>
                <a:cs typeface="Abel"/>
                <a:sym typeface="Abel"/>
              </a:rPr>
              <a:t>Sensors</a:t>
            </a:r>
            <a:endParaRPr b="1" sz="1288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227" name="Google Shape;227;p26"/>
          <p:cNvSpPr txBox="1"/>
          <p:nvPr/>
        </p:nvSpPr>
        <p:spPr>
          <a:xfrm>
            <a:off x="5486100" y="1110275"/>
            <a:ext cx="11553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2175" lIns="102175" spcFirstLastPara="1" rIns="102175" wrap="square" tIns="102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88">
                <a:latin typeface="Abel"/>
                <a:ea typeface="Abel"/>
                <a:cs typeface="Abel"/>
                <a:sym typeface="Abel"/>
              </a:rPr>
              <a:t>Normalized messages</a:t>
            </a:r>
            <a:endParaRPr b="1" sz="1288">
              <a:latin typeface="Abel"/>
              <a:ea typeface="Abel"/>
              <a:cs typeface="Abel"/>
              <a:sym typeface="Abe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/>
          <p:nvPr>
            <p:ph idx="10" type="dt"/>
          </p:nvPr>
        </p:nvSpPr>
        <p:spPr>
          <a:xfrm>
            <a:off x="4343400" y="4611284"/>
            <a:ext cx="19050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/>
              <a:t>11/03/2026</a:t>
            </a:r>
            <a:endParaRPr sz="100"/>
          </a:p>
        </p:txBody>
      </p:sp>
      <p:sp>
        <p:nvSpPr>
          <p:cNvPr id="234" name="Google Shape;234;p27"/>
          <p:cNvSpPr txBox="1"/>
          <p:nvPr>
            <p:ph idx="11" type="ftr"/>
          </p:nvPr>
        </p:nvSpPr>
        <p:spPr>
          <a:xfrm>
            <a:off x="1219200" y="4611281"/>
            <a:ext cx="28956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/>
              <a:t>HackSauce</a:t>
            </a:r>
            <a:r>
              <a:rPr b="0" i="0" lang="it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</p:txBody>
      </p:sp>
      <p:sp>
        <p:nvSpPr>
          <p:cNvPr id="235" name="Google Shape;235;p27"/>
          <p:cNvSpPr txBox="1"/>
          <p:nvPr>
            <p:ph idx="12" type="sldNum"/>
          </p:nvPr>
        </p:nvSpPr>
        <p:spPr>
          <a:xfrm>
            <a:off x="6553200" y="4611281"/>
            <a:ext cx="19050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/>
              <a:t>Page 10</a:t>
            </a:r>
            <a:endParaRPr sz="200"/>
          </a:p>
        </p:txBody>
      </p:sp>
      <p:sp>
        <p:nvSpPr>
          <p:cNvPr id="236" name="Google Shape;236;p27"/>
          <p:cNvSpPr txBox="1"/>
          <p:nvPr>
            <p:ph idx="4294967295" type="title"/>
          </p:nvPr>
        </p:nvSpPr>
        <p:spPr>
          <a:xfrm>
            <a:off x="1105625" y="202591"/>
            <a:ext cx="74169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it" sz="36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PROCESSING SERVICE:</a:t>
            </a:r>
            <a:endParaRPr sz="360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360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360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3600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237" name="Google Shape;237;p27"/>
          <p:cNvSpPr/>
          <p:nvPr/>
        </p:nvSpPr>
        <p:spPr>
          <a:xfrm>
            <a:off x="266675" y="1756772"/>
            <a:ext cx="1230900" cy="567300"/>
          </a:xfrm>
          <a:prstGeom prst="roundRect">
            <a:avLst>
              <a:gd fmla="val 16667" name="adj"/>
            </a:avLst>
          </a:prstGeom>
          <a:noFill/>
          <a:ln cap="flat" cmpd="sng" w="2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053">
                <a:latin typeface="Abel"/>
                <a:ea typeface="Abel"/>
                <a:cs typeface="Abel"/>
                <a:sym typeface="Abel"/>
              </a:rPr>
              <a:t>- Message Queue</a:t>
            </a:r>
            <a:endParaRPr sz="1053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238" name="Google Shape;238;p27"/>
          <p:cNvSpPr txBox="1"/>
          <p:nvPr/>
        </p:nvSpPr>
        <p:spPr>
          <a:xfrm>
            <a:off x="493246" y="1496165"/>
            <a:ext cx="777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4">
                <a:latin typeface="Abel"/>
                <a:ea typeface="Abel"/>
                <a:cs typeface="Abel"/>
                <a:sym typeface="Abel"/>
              </a:rPr>
              <a:t>ActiveMQ</a:t>
            </a:r>
            <a:endParaRPr b="1" sz="1204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239" name="Google Shape;239;p27"/>
          <p:cNvSpPr/>
          <p:nvPr/>
        </p:nvSpPr>
        <p:spPr>
          <a:xfrm>
            <a:off x="2794859" y="1756772"/>
            <a:ext cx="1230900" cy="567300"/>
          </a:xfrm>
          <a:prstGeom prst="roundRect">
            <a:avLst>
              <a:gd fmla="val 16667" name="adj"/>
            </a:avLst>
          </a:prstGeom>
          <a:noFill/>
          <a:ln cap="flat" cmpd="sng" w="2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53">
                <a:latin typeface="Abel"/>
                <a:ea typeface="Abel"/>
                <a:cs typeface="Abel"/>
                <a:sym typeface="Abel"/>
              </a:rPr>
              <a:t>-@JmsListener</a:t>
            </a:r>
            <a:endParaRPr sz="1053"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53">
                <a:latin typeface="Abel"/>
                <a:ea typeface="Abel"/>
                <a:cs typeface="Abel"/>
                <a:sym typeface="Abel"/>
              </a:rPr>
              <a:t>-Deserialization</a:t>
            </a:r>
            <a:endParaRPr sz="1053"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53">
                <a:latin typeface="Abel"/>
                <a:ea typeface="Abel"/>
                <a:cs typeface="Abel"/>
                <a:sym typeface="Abel"/>
              </a:rPr>
              <a:t>-Caching</a:t>
            </a:r>
            <a:endParaRPr sz="1053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240" name="Google Shape;240;p27"/>
          <p:cNvSpPr txBox="1"/>
          <p:nvPr/>
        </p:nvSpPr>
        <p:spPr>
          <a:xfrm>
            <a:off x="2869159" y="1496165"/>
            <a:ext cx="10830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4">
                <a:latin typeface="Abel"/>
                <a:ea typeface="Abel"/>
                <a:cs typeface="Abel"/>
                <a:sym typeface="Abel"/>
              </a:rPr>
              <a:t>Jms Consumer</a:t>
            </a:r>
            <a:endParaRPr b="1" sz="1204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5248742" y="1756772"/>
            <a:ext cx="1230900" cy="567300"/>
          </a:xfrm>
          <a:prstGeom prst="roundRect">
            <a:avLst>
              <a:gd fmla="val 16667" name="adj"/>
            </a:avLst>
          </a:prstGeom>
          <a:noFill/>
          <a:ln cap="flat" cmpd="sng" w="2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53">
                <a:latin typeface="Abel"/>
                <a:ea typeface="Abel"/>
                <a:cs typeface="Abel"/>
                <a:sym typeface="Abel"/>
              </a:rPr>
              <a:t>-Evaluation</a:t>
            </a:r>
            <a:endParaRPr sz="1053"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53">
                <a:latin typeface="Abel"/>
                <a:ea typeface="Abel"/>
                <a:cs typeface="Abel"/>
                <a:sym typeface="Abel"/>
              </a:rPr>
              <a:t>-Automation</a:t>
            </a:r>
            <a:endParaRPr sz="1053"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53">
                <a:latin typeface="Abel"/>
                <a:ea typeface="Abel"/>
                <a:cs typeface="Abel"/>
                <a:sym typeface="Abel"/>
              </a:rPr>
              <a:t>-Actuators’control</a:t>
            </a:r>
            <a:endParaRPr sz="1053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242" name="Google Shape;242;p27"/>
          <p:cNvSpPr txBox="1"/>
          <p:nvPr/>
        </p:nvSpPr>
        <p:spPr>
          <a:xfrm>
            <a:off x="5279742" y="1496165"/>
            <a:ext cx="10830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4">
                <a:latin typeface="Abel"/>
                <a:ea typeface="Abel"/>
                <a:cs typeface="Abel"/>
                <a:sym typeface="Abel"/>
              </a:rPr>
              <a:t>Actuator Client</a:t>
            </a:r>
            <a:endParaRPr b="1" sz="1204">
              <a:latin typeface="Abel"/>
              <a:ea typeface="Abel"/>
              <a:cs typeface="Abel"/>
              <a:sym typeface="Abel"/>
            </a:endParaRPr>
          </a:p>
        </p:txBody>
      </p:sp>
      <p:cxnSp>
        <p:nvCxnSpPr>
          <p:cNvPr id="243" name="Google Shape;243;p27"/>
          <p:cNvCxnSpPr>
            <a:stCxn id="237" idx="3"/>
            <a:endCxn id="239" idx="1"/>
          </p:cNvCxnSpPr>
          <p:nvPr/>
        </p:nvCxnSpPr>
        <p:spPr>
          <a:xfrm>
            <a:off x="1497575" y="2040422"/>
            <a:ext cx="1297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4" name="Google Shape;244;p27"/>
          <p:cNvCxnSpPr>
            <a:stCxn id="239" idx="3"/>
            <a:endCxn id="241" idx="1"/>
          </p:cNvCxnSpPr>
          <p:nvPr/>
        </p:nvCxnSpPr>
        <p:spPr>
          <a:xfrm>
            <a:off x="4025759" y="2040422"/>
            <a:ext cx="1223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5" name="Google Shape;245;p27"/>
          <p:cNvSpPr txBox="1"/>
          <p:nvPr/>
        </p:nvSpPr>
        <p:spPr>
          <a:xfrm>
            <a:off x="1624108" y="1596729"/>
            <a:ext cx="10389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827">
                <a:latin typeface="Abel"/>
                <a:ea typeface="Abel"/>
                <a:cs typeface="Abel"/>
                <a:sym typeface="Abel"/>
              </a:rPr>
              <a:t>Sensors’ State in Standard Event Schema</a:t>
            </a:r>
            <a:endParaRPr b="1" sz="827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246" name="Google Shape;246;p27"/>
          <p:cNvSpPr txBox="1"/>
          <p:nvPr/>
        </p:nvSpPr>
        <p:spPr>
          <a:xfrm>
            <a:off x="4117879" y="1756779"/>
            <a:ext cx="10389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827">
                <a:latin typeface="Abel"/>
                <a:ea typeface="Abel"/>
                <a:cs typeface="Abel"/>
                <a:sym typeface="Abel"/>
              </a:rPr>
              <a:t>Sensor Cache</a:t>
            </a:r>
            <a:endParaRPr b="1" sz="827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247" name="Google Shape;247;p27"/>
          <p:cNvSpPr/>
          <p:nvPr/>
        </p:nvSpPr>
        <p:spPr>
          <a:xfrm>
            <a:off x="5248759" y="2893750"/>
            <a:ext cx="1230900" cy="567300"/>
          </a:xfrm>
          <a:prstGeom prst="roundRect">
            <a:avLst>
              <a:gd fmla="val 16667" name="adj"/>
            </a:avLst>
          </a:prstGeom>
          <a:noFill/>
          <a:ln cap="flat" cmpd="sng" w="2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53">
                <a:latin typeface="Abel"/>
                <a:ea typeface="Abel"/>
                <a:cs typeface="Abel"/>
                <a:sym typeface="Abel"/>
              </a:rPr>
              <a:t>-</a:t>
            </a:r>
            <a:r>
              <a:rPr lang="it" sz="1053">
                <a:latin typeface="Abel"/>
                <a:ea typeface="Abel"/>
                <a:cs typeface="Abel"/>
                <a:sym typeface="Abel"/>
              </a:rPr>
              <a:t>HTTP</a:t>
            </a:r>
            <a:r>
              <a:rPr lang="it" sz="1053">
                <a:latin typeface="Abel"/>
                <a:ea typeface="Abel"/>
                <a:cs typeface="Abel"/>
                <a:sym typeface="Abel"/>
              </a:rPr>
              <a:t> Endpoints</a:t>
            </a:r>
            <a:endParaRPr sz="1053"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53">
                <a:latin typeface="Abel"/>
                <a:ea typeface="Abel"/>
                <a:cs typeface="Abel"/>
                <a:sym typeface="Abel"/>
              </a:rPr>
              <a:t>-SSE Stream</a:t>
            </a:r>
            <a:endParaRPr sz="1053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248" name="Google Shape;248;p27"/>
          <p:cNvSpPr txBox="1"/>
          <p:nvPr/>
        </p:nvSpPr>
        <p:spPr>
          <a:xfrm>
            <a:off x="5323059" y="2633142"/>
            <a:ext cx="10830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4">
                <a:latin typeface="Abel"/>
                <a:ea typeface="Abel"/>
                <a:cs typeface="Abel"/>
                <a:sym typeface="Abel"/>
              </a:rPr>
              <a:t>Api Controller</a:t>
            </a:r>
            <a:endParaRPr b="1" sz="1204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249" name="Google Shape;249;p27"/>
          <p:cNvSpPr/>
          <p:nvPr/>
        </p:nvSpPr>
        <p:spPr>
          <a:xfrm>
            <a:off x="7616842" y="1756699"/>
            <a:ext cx="1230900" cy="567300"/>
          </a:xfrm>
          <a:prstGeom prst="roundRect">
            <a:avLst>
              <a:gd fmla="val 16667" name="adj"/>
            </a:avLst>
          </a:prstGeom>
          <a:noFill/>
          <a:ln cap="flat" cmpd="sng" w="2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53">
                <a:latin typeface="Abel"/>
                <a:ea typeface="Abel"/>
                <a:cs typeface="Abel"/>
                <a:sym typeface="Abel"/>
              </a:rPr>
              <a:t>-Automation rules table</a:t>
            </a:r>
            <a:endParaRPr sz="1053"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53">
                <a:latin typeface="Abel"/>
                <a:ea typeface="Abel"/>
                <a:cs typeface="Abel"/>
                <a:sym typeface="Abel"/>
              </a:rPr>
              <a:t>-Persistence</a:t>
            </a:r>
            <a:endParaRPr sz="1053">
              <a:latin typeface="Abel"/>
              <a:ea typeface="Abel"/>
              <a:cs typeface="Abel"/>
              <a:sym typeface="Abel"/>
            </a:endParaRPr>
          </a:p>
        </p:txBody>
      </p:sp>
      <p:cxnSp>
        <p:nvCxnSpPr>
          <p:cNvPr id="250" name="Google Shape;250;p27"/>
          <p:cNvCxnSpPr>
            <a:stCxn id="249" idx="1"/>
            <a:endCxn id="241" idx="3"/>
          </p:cNvCxnSpPr>
          <p:nvPr/>
        </p:nvCxnSpPr>
        <p:spPr>
          <a:xfrm rot="10800000">
            <a:off x="6479542" y="2040349"/>
            <a:ext cx="1137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1" name="Google Shape;251;p27"/>
          <p:cNvSpPr txBox="1"/>
          <p:nvPr/>
        </p:nvSpPr>
        <p:spPr>
          <a:xfrm>
            <a:off x="7616742" y="1496165"/>
            <a:ext cx="10830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4">
                <a:latin typeface="Abel"/>
                <a:ea typeface="Abel"/>
                <a:cs typeface="Abel"/>
                <a:sym typeface="Abel"/>
              </a:rPr>
              <a:t>PostgreSQL</a:t>
            </a:r>
            <a:endParaRPr b="1" sz="1204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252" name="Google Shape;252;p27"/>
          <p:cNvSpPr txBox="1"/>
          <p:nvPr/>
        </p:nvSpPr>
        <p:spPr>
          <a:xfrm>
            <a:off x="6571629" y="1756779"/>
            <a:ext cx="10389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827">
                <a:latin typeface="Abel"/>
                <a:ea typeface="Abel"/>
                <a:cs typeface="Abel"/>
                <a:sym typeface="Abel"/>
              </a:rPr>
              <a:t>Automation Rules</a:t>
            </a:r>
            <a:endParaRPr b="1" sz="827">
              <a:latin typeface="Abel"/>
              <a:ea typeface="Abel"/>
              <a:cs typeface="Abel"/>
              <a:sym typeface="Abel"/>
            </a:endParaRPr>
          </a:p>
        </p:txBody>
      </p:sp>
      <p:cxnSp>
        <p:nvCxnSpPr>
          <p:cNvPr id="253" name="Google Shape;253;p27"/>
          <p:cNvCxnSpPr>
            <a:stCxn id="239" idx="2"/>
            <a:endCxn id="247" idx="1"/>
          </p:cNvCxnSpPr>
          <p:nvPr/>
        </p:nvCxnSpPr>
        <p:spPr>
          <a:xfrm flipH="1" rot="-5400000">
            <a:off x="3902909" y="1831472"/>
            <a:ext cx="853200" cy="1838400"/>
          </a:xfrm>
          <a:prstGeom prst="bentConnector2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4" name="Google Shape;254;p27"/>
          <p:cNvSpPr txBox="1"/>
          <p:nvPr/>
        </p:nvSpPr>
        <p:spPr>
          <a:xfrm>
            <a:off x="3707429" y="2930729"/>
            <a:ext cx="10389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827">
                <a:latin typeface="Abel"/>
                <a:ea typeface="Abel"/>
                <a:cs typeface="Abel"/>
                <a:sym typeface="Abel"/>
              </a:rPr>
              <a:t>Sensor Cache</a:t>
            </a:r>
            <a:endParaRPr b="1" sz="827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255" name="Google Shape;255;p27"/>
          <p:cNvSpPr/>
          <p:nvPr/>
        </p:nvSpPr>
        <p:spPr>
          <a:xfrm>
            <a:off x="7580125" y="3784775"/>
            <a:ext cx="1297200" cy="567300"/>
          </a:xfrm>
          <a:prstGeom prst="roundRect">
            <a:avLst>
              <a:gd fmla="val 16667" name="adj"/>
            </a:avLst>
          </a:prstGeom>
          <a:noFill/>
          <a:ln cap="flat" cmpd="sng" w="2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53">
                <a:latin typeface="Abel"/>
                <a:ea typeface="Abel"/>
                <a:cs typeface="Abel"/>
                <a:sym typeface="Abel"/>
              </a:rPr>
              <a:t>-User Interface</a:t>
            </a:r>
            <a:endParaRPr sz="1053"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53">
                <a:latin typeface="Abel"/>
                <a:ea typeface="Abel"/>
                <a:cs typeface="Abel"/>
                <a:sym typeface="Abel"/>
              </a:rPr>
              <a:t>-Rules’ management</a:t>
            </a:r>
            <a:endParaRPr sz="1053"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53">
                <a:latin typeface="Abel"/>
                <a:ea typeface="Abel"/>
                <a:cs typeface="Abel"/>
                <a:sym typeface="Abel"/>
              </a:rPr>
              <a:t>-Actuators Toggle</a:t>
            </a:r>
            <a:endParaRPr sz="1053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256" name="Google Shape;256;p27"/>
          <p:cNvSpPr txBox="1"/>
          <p:nvPr/>
        </p:nvSpPr>
        <p:spPr>
          <a:xfrm>
            <a:off x="7654434" y="3524167"/>
            <a:ext cx="10830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4">
                <a:latin typeface="Abel"/>
                <a:ea typeface="Abel"/>
                <a:cs typeface="Abel"/>
                <a:sym typeface="Abel"/>
              </a:rPr>
              <a:t>Frontend</a:t>
            </a:r>
            <a:endParaRPr b="1" sz="1204">
              <a:latin typeface="Abel"/>
              <a:ea typeface="Abel"/>
              <a:cs typeface="Abel"/>
              <a:sym typeface="Abel"/>
            </a:endParaRPr>
          </a:p>
        </p:txBody>
      </p:sp>
      <p:cxnSp>
        <p:nvCxnSpPr>
          <p:cNvPr id="257" name="Google Shape;257;p27"/>
          <p:cNvCxnSpPr>
            <a:stCxn id="247" idx="2"/>
            <a:endCxn id="255" idx="1"/>
          </p:cNvCxnSpPr>
          <p:nvPr/>
        </p:nvCxnSpPr>
        <p:spPr>
          <a:xfrm flipH="1" rot="-5400000">
            <a:off x="6418459" y="2906800"/>
            <a:ext cx="607500" cy="1716000"/>
          </a:xfrm>
          <a:prstGeom prst="bentConnector2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8" name="Google Shape;258;p27"/>
          <p:cNvSpPr txBox="1"/>
          <p:nvPr/>
        </p:nvSpPr>
        <p:spPr>
          <a:xfrm>
            <a:off x="6140054" y="4124367"/>
            <a:ext cx="10389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827">
                <a:latin typeface="Abel"/>
                <a:ea typeface="Abel"/>
                <a:cs typeface="Abel"/>
                <a:sym typeface="Abel"/>
              </a:rPr>
              <a:t>Rest API</a:t>
            </a:r>
            <a:endParaRPr b="1" sz="827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259" name="Google Shape;259;p27"/>
          <p:cNvSpPr txBox="1"/>
          <p:nvPr/>
        </p:nvSpPr>
        <p:spPr>
          <a:xfrm>
            <a:off x="6537400" y="2679914"/>
            <a:ext cx="1038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827">
                <a:latin typeface="Abel"/>
                <a:ea typeface="Abel"/>
                <a:cs typeface="Abel"/>
                <a:sym typeface="Abel"/>
              </a:rPr>
              <a:t>CRUD operations</a:t>
            </a:r>
            <a:endParaRPr b="1" sz="827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260" name="Google Shape;260;p27"/>
          <p:cNvSpPr/>
          <p:nvPr/>
        </p:nvSpPr>
        <p:spPr>
          <a:xfrm>
            <a:off x="7616892" y="751224"/>
            <a:ext cx="1230900" cy="567300"/>
          </a:xfrm>
          <a:prstGeom prst="roundRect">
            <a:avLst>
              <a:gd fmla="val 16667" name="adj"/>
            </a:avLst>
          </a:prstGeom>
          <a:noFill/>
          <a:ln cap="flat" cmpd="sng" w="2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53">
                <a:latin typeface="Abel"/>
                <a:ea typeface="Abel"/>
                <a:cs typeface="Abel"/>
                <a:sym typeface="Abel"/>
              </a:rPr>
              <a:t>-Sensors</a:t>
            </a:r>
            <a:endParaRPr sz="1053"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53">
                <a:latin typeface="Abel"/>
                <a:ea typeface="Abel"/>
                <a:cs typeface="Abel"/>
                <a:sym typeface="Abel"/>
              </a:rPr>
              <a:t>-Actuators</a:t>
            </a:r>
            <a:endParaRPr sz="1053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261" name="Google Shape;261;p27"/>
          <p:cNvSpPr txBox="1"/>
          <p:nvPr/>
        </p:nvSpPr>
        <p:spPr>
          <a:xfrm>
            <a:off x="7616792" y="490690"/>
            <a:ext cx="10830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4">
                <a:latin typeface="Abel"/>
                <a:ea typeface="Abel"/>
                <a:cs typeface="Abel"/>
                <a:sym typeface="Abel"/>
              </a:rPr>
              <a:t>Simulator</a:t>
            </a:r>
            <a:endParaRPr b="1" sz="1204">
              <a:latin typeface="Abel"/>
              <a:ea typeface="Abel"/>
              <a:cs typeface="Abel"/>
              <a:sym typeface="Abel"/>
            </a:endParaRPr>
          </a:p>
        </p:txBody>
      </p:sp>
      <p:cxnSp>
        <p:nvCxnSpPr>
          <p:cNvPr id="262" name="Google Shape;262;p27"/>
          <p:cNvCxnSpPr>
            <a:stCxn id="242" idx="0"/>
            <a:endCxn id="260" idx="1"/>
          </p:cNvCxnSpPr>
          <p:nvPr/>
        </p:nvCxnSpPr>
        <p:spPr>
          <a:xfrm rot="-5400000">
            <a:off x="6488292" y="367715"/>
            <a:ext cx="461400" cy="1795500"/>
          </a:xfrm>
          <a:prstGeom prst="bentConnector2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3" name="Google Shape;263;p27"/>
          <p:cNvSpPr txBox="1"/>
          <p:nvPr/>
        </p:nvSpPr>
        <p:spPr>
          <a:xfrm>
            <a:off x="6140049" y="762550"/>
            <a:ext cx="11373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827">
                <a:latin typeface="Abel"/>
                <a:ea typeface="Abel"/>
                <a:cs typeface="Abel"/>
                <a:sym typeface="Abel"/>
              </a:rPr>
              <a:t>Change Actuators’state</a:t>
            </a:r>
            <a:endParaRPr b="1" sz="827">
              <a:latin typeface="Abel"/>
              <a:ea typeface="Abel"/>
              <a:cs typeface="Abel"/>
              <a:sym typeface="Abel"/>
            </a:endParaRPr>
          </a:p>
        </p:txBody>
      </p:sp>
      <p:cxnSp>
        <p:nvCxnSpPr>
          <p:cNvPr id="264" name="Google Shape;264;p27"/>
          <p:cNvCxnSpPr>
            <a:stCxn id="256" idx="0"/>
          </p:cNvCxnSpPr>
          <p:nvPr/>
        </p:nvCxnSpPr>
        <p:spPr>
          <a:xfrm flipH="1" rot="5400000">
            <a:off x="7249884" y="2578117"/>
            <a:ext cx="190500" cy="1701600"/>
          </a:xfrm>
          <a:prstGeom prst="bentConnector2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27"/>
          <p:cNvCxnSpPr/>
          <p:nvPr/>
        </p:nvCxnSpPr>
        <p:spPr>
          <a:xfrm flipH="1" rot="10800000">
            <a:off x="6480409" y="2258912"/>
            <a:ext cx="1154400" cy="856200"/>
          </a:xfrm>
          <a:prstGeom prst="bentConnector3">
            <a:avLst>
              <a:gd fmla="val 315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8"/>
          <p:cNvSpPr txBox="1"/>
          <p:nvPr>
            <p:ph idx="10" type="dt"/>
          </p:nvPr>
        </p:nvSpPr>
        <p:spPr>
          <a:xfrm>
            <a:off x="4343400" y="4611284"/>
            <a:ext cx="19050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/>
              <a:t>11/03/2026</a:t>
            </a:r>
            <a:endParaRPr sz="100"/>
          </a:p>
        </p:txBody>
      </p:sp>
      <p:sp>
        <p:nvSpPr>
          <p:cNvPr id="272" name="Google Shape;272;p28"/>
          <p:cNvSpPr txBox="1"/>
          <p:nvPr>
            <p:ph idx="11" type="ftr"/>
          </p:nvPr>
        </p:nvSpPr>
        <p:spPr>
          <a:xfrm>
            <a:off x="1219200" y="4611281"/>
            <a:ext cx="28956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/>
              <a:t>HackSauce</a:t>
            </a:r>
            <a:r>
              <a:rPr b="0" i="0" lang="it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</p:txBody>
      </p:sp>
      <p:sp>
        <p:nvSpPr>
          <p:cNvPr id="273" name="Google Shape;273;p28"/>
          <p:cNvSpPr txBox="1"/>
          <p:nvPr>
            <p:ph idx="12" type="sldNum"/>
          </p:nvPr>
        </p:nvSpPr>
        <p:spPr>
          <a:xfrm>
            <a:off x="6553200" y="4611281"/>
            <a:ext cx="19050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/>
              <a:t>Page 11</a:t>
            </a:r>
            <a:endParaRPr sz="200"/>
          </a:p>
        </p:txBody>
      </p:sp>
      <p:sp>
        <p:nvSpPr>
          <p:cNvPr id="274" name="Google Shape;274;p28"/>
          <p:cNvSpPr txBox="1"/>
          <p:nvPr>
            <p:ph idx="4294967295" type="title"/>
          </p:nvPr>
        </p:nvSpPr>
        <p:spPr>
          <a:xfrm>
            <a:off x="1105625" y="202601"/>
            <a:ext cx="74169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it" sz="36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FRONTEND</a:t>
            </a:r>
            <a:r>
              <a:rPr lang="it" sz="36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:</a:t>
            </a:r>
            <a:endParaRPr sz="360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360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3600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275" name="Google Shape;275;p28"/>
          <p:cNvSpPr/>
          <p:nvPr/>
        </p:nvSpPr>
        <p:spPr>
          <a:xfrm>
            <a:off x="1117136" y="1286750"/>
            <a:ext cx="1511400" cy="696600"/>
          </a:xfrm>
          <a:prstGeom prst="roundRect">
            <a:avLst>
              <a:gd fmla="val 16667" name="adj"/>
            </a:avLst>
          </a:prstGeom>
          <a:noFill/>
          <a:ln cap="flat" cmpd="sng" w="35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93">
                <a:latin typeface="Abel"/>
                <a:ea typeface="Abel"/>
                <a:cs typeface="Abel"/>
                <a:sym typeface="Abel"/>
              </a:rPr>
              <a:t>- </a:t>
            </a:r>
            <a:r>
              <a:rPr lang="it" sz="1293">
                <a:latin typeface="Abel"/>
                <a:ea typeface="Abel"/>
                <a:cs typeface="Abel"/>
                <a:sym typeface="Abel"/>
              </a:rPr>
              <a:t>HTTP Endpoints</a:t>
            </a:r>
            <a:endParaRPr sz="1293"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93">
                <a:latin typeface="Abel"/>
                <a:ea typeface="Abel"/>
                <a:cs typeface="Abel"/>
                <a:sym typeface="Abel"/>
              </a:rPr>
              <a:t>- SSE Stream</a:t>
            </a:r>
            <a:endParaRPr sz="1293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276" name="Google Shape;276;p28"/>
          <p:cNvSpPr txBox="1"/>
          <p:nvPr/>
        </p:nvSpPr>
        <p:spPr>
          <a:xfrm>
            <a:off x="1207895" y="938750"/>
            <a:ext cx="1329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Abel"/>
                <a:ea typeface="Abel"/>
                <a:cs typeface="Abel"/>
                <a:sym typeface="Abel"/>
              </a:rPr>
              <a:t>Api Controller</a:t>
            </a:r>
            <a:endParaRPr b="1" sz="1600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277" name="Google Shape;277;p28"/>
          <p:cNvSpPr/>
          <p:nvPr/>
        </p:nvSpPr>
        <p:spPr>
          <a:xfrm>
            <a:off x="5163726" y="1286713"/>
            <a:ext cx="1592700" cy="696600"/>
          </a:xfrm>
          <a:prstGeom prst="roundRect">
            <a:avLst>
              <a:gd fmla="val 16667" name="adj"/>
            </a:avLst>
          </a:prstGeom>
          <a:noFill/>
          <a:ln cap="flat" cmpd="sng" w="35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latin typeface="Abel"/>
                <a:ea typeface="Abel"/>
                <a:cs typeface="Abel"/>
                <a:sym typeface="Abel"/>
              </a:rPr>
              <a:t>Frontend</a:t>
            </a:r>
            <a:endParaRPr sz="1493">
              <a:latin typeface="Abel"/>
              <a:ea typeface="Abel"/>
              <a:cs typeface="Abel"/>
              <a:sym typeface="Abel"/>
            </a:endParaRPr>
          </a:p>
        </p:txBody>
      </p:sp>
      <p:cxnSp>
        <p:nvCxnSpPr>
          <p:cNvPr id="278" name="Google Shape;278;p28"/>
          <p:cNvCxnSpPr>
            <a:stCxn id="275" idx="2"/>
            <a:endCxn id="277" idx="2"/>
          </p:cNvCxnSpPr>
          <p:nvPr/>
        </p:nvCxnSpPr>
        <p:spPr>
          <a:xfrm flipH="1" rot="-5400000">
            <a:off x="3916136" y="-59950"/>
            <a:ext cx="600" cy="4087200"/>
          </a:xfrm>
          <a:prstGeom prst="bentConnector3">
            <a:avLst>
              <a:gd fmla="val 39687500" name="adj1"/>
            </a:avLst>
          </a:prstGeom>
          <a:noFill/>
          <a:ln cap="flat" cmpd="sng" w="234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9" name="Google Shape;279;p28"/>
          <p:cNvSpPr txBox="1"/>
          <p:nvPr/>
        </p:nvSpPr>
        <p:spPr>
          <a:xfrm>
            <a:off x="3258335" y="2268623"/>
            <a:ext cx="12756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16">
                <a:latin typeface="Abel"/>
                <a:ea typeface="Abel"/>
                <a:cs typeface="Abel"/>
                <a:sym typeface="Abel"/>
              </a:rPr>
              <a:t>Rest API</a:t>
            </a:r>
            <a:endParaRPr b="1" sz="1016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280" name="Google Shape;280;p28"/>
          <p:cNvSpPr txBox="1"/>
          <p:nvPr/>
        </p:nvSpPr>
        <p:spPr>
          <a:xfrm>
            <a:off x="3258335" y="1258853"/>
            <a:ext cx="1275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16">
                <a:latin typeface="Abel"/>
                <a:ea typeface="Abel"/>
                <a:cs typeface="Abel"/>
                <a:sym typeface="Abel"/>
              </a:rPr>
              <a:t>CRUD operations</a:t>
            </a:r>
            <a:endParaRPr b="1" sz="1016">
              <a:latin typeface="Abel"/>
              <a:ea typeface="Abel"/>
              <a:cs typeface="Abel"/>
              <a:sym typeface="Abel"/>
            </a:endParaRPr>
          </a:p>
        </p:txBody>
      </p:sp>
      <p:cxnSp>
        <p:nvCxnSpPr>
          <p:cNvPr id="281" name="Google Shape;281;p28"/>
          <p:cNvCxnSpPr>
            <a:stCxn id="277" idx="1"/>
            <a:endCxn id="275" idx="3"/>
          </p:cNvCxnSpPr>
          <p:nvPr/>
        </p:nvCxnSpPr>
        <p:spPr>
          <a:xfrm rot="10800000">
            <a:off x="2628426" y="1635013"/>
            <a:ext cx="2535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2" name="Google Shape;282;p28"/>
          <p:cNvSpPr/>
          <p:nvPr/>
        </p:nvSpPr>
        <p:spPr>
          <a:xfrm>
            <a:off x="1488736" y="2621511"/>
            <a:ext cx="1461300" cy="603600"/>
          </a:xfrm>
          <a:prstGeom prst="roundRect">
            <a:avLst>
              <a:gd fmla="val 16667" name="adj"/>
            </a:avLst>
          </a:prstGeom>
          <a:noFill/>
          <a:ln cap="flat" cmpd="sng" w="35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93">
                <a:latin typeface="Abel"/>
                <a:ea typeface="Abel"/>
                <a:cs typeface="Abel"/>
                <a:sym typeface="Abel"/>
              </a:rPr>
              <a:t>Page structure</a:t>
            </a:r>
            <a:endParaRPr sz="1293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283" name="Google Shape;283;p28"/>
          <p:cNvSpPr txBox="1"/>
          <p:nvPr/>
        </p:nvSpPr>
        <p:spPr>
          <a:xfrm>
            <a:off x="1554445" y="2261438"/>
            <a:ext cx="1329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Abel"/>
                <a:ea typeface="Abel"/>
                <a:cs typeface="Abel"/>
                <a:sym typeface="Abel"/>
              </a:rPr>
              <a:t>HTML</a:t>
            </a:r>
            <a:endParaRPr b="1">
              <a:latin typeface="Abel"/>
              <a:ea typeface="Abel"/>
              <a:cs typeface="Abel"/>
              <a:sym typeface="Abel"/>
            </a:endParaRPr>
          </a:p>
        </p:txBody>
      </p:sp>
      <p:cxnSp>
        <p:nvCxnSpPr>
          <p:cNvPr id="284" name="Google Shape;284;p28"/>
          <p:cNvCxnSpPr>
            <a:stCxn id="282" idx="3"/>
            <a:endCxn id="277" idx="2"/>
          </p:cNvCxnSpPr>
          <p:nvPr/>
        </p:nvCxnSpPr>
        <p:spPr>
          <a:xfrm flipH="1" rot="10800000">
            <a:off x="2950036" y="1983411"/>
            <a:ext cx="3009900" cy="939900"/>
          </a:xfrm>
          <a:prstGeom prst="bentConnector2">
            <a:avLst/>
          </a:prstGeom>
          <a:noFill/>
          <a:ln cap="flat" cmpd="sng" w="234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5" name="Google Shape;285;p28"/>
          <p:cNvSpPr/>
          <p:nvPr/>
        </p:nvSpPr>
        <p:spPr>
          <a:xfrm>
            <a:off x="3165436" y="3601248"/>
            <a:ext cx="1461300" cy="603600"/>
          </a:xfrm>
          <a:prstGeom prst="roundRect">
            <a:avLst>
              <a:gd fmla="val 16667" name="adj"/>
            </a:avLst>
          </a:prstGeom>
          <a:noFill/>
          <a:ln cap="flat" cmpd="sng" w="35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93">
                <a:latin typeface="Abel"/>
                <a:ea typeface="Abel"/>
                <a:cs typeface="Abel"/>
                <a:sym typeface="Abel"/>
              </a:rPr>
              <a:t>Page styling and colors</a:t>
            </a:r>
            <a:endParaRPr sz="1293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286" name="Google Shape;286;p28"/>
          <p:cNvSpPr txBox="1"/>
          <p:nvPr/>
        </p:nvSpPr>
        <p:spPr>
          <a:xfrm>
            <a:off x="3231182" y="3244550"/>
            <a:ext cx="1329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Abel"/>
                <a:ea typeface="Abel"/>
                <a:cs typeface="Abel"/>
                <a:sym typeface="Abel"/>
              </a:rPr>
              <a:t>CSS</a:t>
            </a:r>
            <a:endParaRPr b="1">
              <a:latin typeface="Abel"/>
              <a:ea typeface="Abel"/>
              <a:cs typeface="Abel"/>
              <a:sym typeface="Abel"/>
            </a:endParaRPr>
          </a:p>
        </p:txBody>
      </p:sp>
      <p:cxnSp>
        <p:nvCxnSpPr>
          <p:cNvPr id="287" name="Google Shape;287;p28"/>
          <p:cNvCxnSpPr>
            <a:stCxn id="285" idx="3"/>
            <a:endCxn id="277" idx="2"/>
          </p:cNvCxnSpPr>
          <p:nvPr/>
        </p:nvCxnSpPr>
        <p:spPr>
          <a:xfrm flipH="1" rot="10800000">
            <a:off x="4626736" y="1983348"/>
            <a:ext cx="1333200" cy="1919700"/>
          </a:xfrm>
          <a:prstGeom prst="bentConnector2">
            <a:avLst/>
          </a:prstGeom>
          <a:noFill/>
          <a:ln cap="flat" cmpd="sng" w="234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8" name="Google Shape;288;p28"/>
          <p:cNvSpPr/>
          <p:nvPr/>
        </p:nvSpPr>
        <p:spPr>
          <a:xfrm>
            <a:off x="6327436" y="2416198"/>
            <a:ext cx="1461300" cy="603600"/>
          </a:xfrm>
          <a:prstGeom prst="roundRect">
            <a:avLst>
              <a:gd fmla="val 16667" name="adj"/>
            </a:avLst>
          </a:prstGeom>
          <a:noFill/>
          <a:ln cap="flat" cmpd="sng" w="35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93">
                <a:latin typeface="Abel"/>
                <a:ea typeface="Abel"/>
                <a:cs typeface="Abel"/>
                <a:sym typeface="Abel"/>
              </a:rPr>
              <a:t>Page logic and dynamic interactions</a:t>
            </a:r>
            <a:endParaRPr sz="1293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289" name="Google Shape;289;p28"/>
          <p:cNvSpPr txBox="1"/>
          <p:nvPr/>
        </p:nvSpPr>
        <p:spPr>
          <a:xfrm>
            <a:off x="6393132" y="2076650"/>
            <a:ext cx="1329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84475" lIns="84475" spcFirstLastPara="1" rIns="84475" wrap="square" tIns="8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Abel"/>
                <a:ea typeface="Abel"/>
                <a:cs typeface="Abel"/>
                <a:sym typeface="Abel"/>
              </a:rPr>
              <a:t>JavaScript</a:t>
            </a:r>
            <a:endParaRPr b="1">
              <a:latin typeface="Abel"/>
              <a:ea typeface="Abel"/>
              <a:cs typeface="Abel"/>
              <a:sym typeface="Abel"/>
            </a:endParaRPr>
          </a:p>
        </p:txBody>
      </p:sp>
      <p:cxnSp>
        <p:nvCxnSpPr>
          <p:cNvPr id="290" name="Google Shape;290;p28"/>
          <p:cNvCxnSpPr>
            <a:stCxn id="288" idx="3"/>
            <a:endCxn id="277" idx="3"/>
          </p:cNvCxnSpPr>
          <p:nvPr/>
        </p:nvCxnSpPr>
        <p:spPr>
          <a:xfrm rot="10800000">
            <a:off x="6756436" y="1634998"/>
            <a:ext cx="1032300" cy="1083000"/>
          </a:xfrm>
          <a:prstGeom prst="bentConnector3">
            <a:avLst>
              <a:gd fmla="val -23067" name="adj1"/>
            </a:avLst>
          </a:prstGeom>
          <a:noFill/>
          <a:ln cap="flat" cmpd="sng" w="234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1" name="Google Shape;291;p28"/>
          <p:cNvSpPr txBox="1"/>
          <p:nvPr/>
        </p:nvSpPr>
        <p:spPr>
          <a:xfrm>
            <a:off x="6261750" y="3452675"/>
            <a:ext cx="1592700" cy="1020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/>
              <a:t>-“fetch” function to access the controller endpoints </a:t>
            </a:r>
            <a:endParaRPr sz="11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/>
              <a:t>- “EventSource” object to access the events</a:t>
            </a:r>
            <a:endParaRPr sz="1100"/>
          </a:p>
        </p:txBody>
      </p:sp>
      <p:cxnSp>
        <p:nvCxnSpPr>
          <p:cNvPr id="292" name="Google Shape;292;p28"/>
          <p:cNvCxnSpPr>
            <a:stCxn id="291" idx="0"/>
            <a:endCxn id="288" idx="2"/>
          </p:cNvCxnSpPr>
          <p:nvPr/>
        </p:nvCxnSpPr>
        <p:spPr>
          <a:xfrm rot="10800000">
            <a:off x="7058100" y="3019775"/>
            <a:ext cx="0" cy="432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9"/>
          <p:cNvSpPr txBox="1"/>
          <p:nvPr>
            <p:ph idx="10" type="dt"/>
          </p:nvPr>
        </p:nvSpPr>
        <p:spPr>
          <a:xfrm>
            <a:off x="4343400" y="4611284"/>
            <a:ext cx="19050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/>
              <a:t>11/03/2026</a:t>
            </a:r>
            <a:endParaRPr sz="100"/>
          </a:p>
        </p:txBody>
      </p:sp>
      <p:sp>
        <p:nvSpPr>
          <p:cNvPr id="299" name="Google Shape;299;p29"/>
          <p:cNvSpPr txBox="1"/>
          <p:nvPr>
            <p:ph idx="11" type="ftr"/>
          </p:nvPr>
        </p:nvSpPr>
        <p:spPr>
          <a:xfrm>
            <a:off x="1219200" y="4611281"/>
            <a:ext cx="28956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/>
              <a:t>HackSauce</a:t>
            </a:r>
            <a:r>
              <a:rPr b="0" i="0" lang="it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</p:txBody>
      </p:sp>
      <p:sp>
        <p:nvSpPr>
          <p:cNvPr id="300" name="Google Shape;300;p29"/>
          <p:cNvSpPr txBox="1"/>
          <p:nvPr>
            <p:ph idx="12" type="sldNum"/>
          </p:nvPr>
        </p:nvSpPr>
        <p:spPr>
          <a:xfrm>
            <a:off x="6553200" y="4611281"/>
            <a:ext cx="19050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/>
              <a:t>Page 12</a:t>
            </a:r>
            <a:endParaRPr sz="200"/>
          </a:p>
        </p:txBody>
      </p:sp>
      <p:sp>
        <p:nvSpPr>
          <p:cNvPr id="301" name="Google Shape;301;p29"/>
          <p:cNvSpPr txBox="1"/>
          <p:nvPr>
            <p:ph idx="4294967295" type="title"/>
          </p:nvPr>
        </p:nvSpPr>
        <p:spPr>
          <a:xfrm>
            <a:off x="1105625" y="202591"/>
            <a:ext cx="74169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it" sz="36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DOCKER-COMPOSE</a:t>
            </a:r>
            <a:r>
              <a:rPr lang="it" sz="36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:</a:t>
            </a:r>
            <a:endParaRPr sz="360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360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3600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302" name="Google Shape;302;p29"/>
          <p:cNvSpPr txBox="1"/>
          <p:nvPr/>
        </p:nvSpPr>
        <p:spPr>
          <a:xfrm>
            <a:off x="1954212" y="472678"/>
            <a:ext cx="18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9"/>
          <p:cNvSpPr/>
          <p:nvPr/>
        </p:nvSpPr>
        <p:spPr>
          <a:xfrm>
            <a:off x="3956550" y="1090847"/>
            <a:ext cx="1230900" cy="567300"/>
          </a:xfrm>
          <a:prstGeom prst="roundRect">
            <a:avLst>
              <a:gd fmla="val 16667" name="adj"/>
            </a:avLst>
          </a:prstGeom>
          <a:noFill/>
          <a:ln cap="flat" cmpd="sng" w="2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53">
                <a:latin typeface="Abel"/>
                <a:ea typeface="Abel"/>
                <a:cs typeface="Abel"/>
                <a:sym typeface="Abel"/>
              </a:rPr>
              <a:t>DOCKER COMPOSE</a:t>
            </a:r>
            <a:endParaRPr b="1" sz="1053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304" name="Google Shape;304;p29"/>
          <p:cNvSpPr/>
          <p:nvPr/>
        </p:nvSpPr>
        <p:spPr>
          <a:xfrm>
            <a:off x="273075" y="2884747"/>
            <a:ext cx="1230900" cy="567300"/>
          </a:xfrm>
          <a:prstGeom prst="roundRect">
            <a:avLst>
              <a:gd fmla="val 16667" name="adj"/>
            </a:avLst>
          </a:prstGeom>
          <a:noFill/>
          <a:ln cap="flat" cmpd="sng" w="2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053">
                <a:latin typeface="Abel"/>
                <a:ea typeface="Abel"/>
                <a:cs typeface="Abel"/>
                <a:sym typeface="Abel"/>
              </a:rPr>
              <a:t>Container</a:t>
            </a:r>
            <a:endParaRPr sz="1053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305" name="Google Shape;305;p29"/>
          <p:cNvSpPr txBox="1"/>
          <p:nvPr/>
        </p:nvSpPr>
        <p:spPr>
          <a:xfrm>
            <a:off x="305225" y="2608650"/>
            <a:ext cx="11547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4">
                <a:latin typeface="Abel"/>
                <a:ea typeface="Abel"/>
                <a:cs typeface="Abel"/>
                <a:sym typeface="Abel"/>
              </a:rPr>
              <a:t>Reading Service</a:t>
            </a:r>
            <a:endParaRPr b="1" sz="1204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306" name="Google Shape;306;p29"/>
          <p:cNvSpPr/>
          <p:nvPr/>
        </p:nvSpPr>
        <p:spPr>
          <a:xfrm>
            <a:off x="1983300" y="2884747"/>
            <a:ext cx="1230900" cy="567300"/>
          </a:xfrm>
          <a:prstGeom prst="roundRect">
            <a:avLst>
              <a:gd fmla="val 16667" name="adj"/>
            </a:avLst>
          </a:prstGeom>
          <a:noFill/>
          <a:ln cap="flat" cmpd="sng" w="2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053">
                <a:latin typeface="Abel"/>
                <a:ea typeface="Abel"/>
                <a:cs typeface="Abel"/>
                <a:sym typeface="Abel"/>
              </a:rPr>
              <a:t>Container</a:t>
            </a:r>
            <a:endParaRPr sz="1053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307" name="Google Shape;307;p29"/>
          <p:cNvSpPr txBox="1"/>
          <p:nvPr/>
        </p:nvSpPr>
        <p:spPr>
          <a:xfrm>
            <a:off x="2015450" y="2608650"/>
            <a:ext cx="11547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4">
                <a:latin typeface="Abel"/>
                <a:ea typeface="Abel"/>
                <a:cs typeface="Abel"/>
                <a:sym typeface="Abel"/>
              </a:rPr>
              <a:t>ActiveMQ</a:t>
            </a:r>
            <a:endParaRPr b="1" sz="1204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308" name="Google Shape;308;p29"/>
          <p:cNvSpPr/>
          <p:nvPr/>
        </p:nvSpPr>
        <p:spPr>
          <a:xfrm>
            <a:off x="3693525" y="2884747"/>
            <a:ext cx="1230900" cy="567300"/>
          </a:xfrm>
          <a:prstGeom prst="roundRect">
            <a:avLst>
              <a:gd fmla="val 16667" name="adj"/>
            </a:avLst>
          </a:prstGeom>
          <a:noFill/>
          <a:ln cap="flat" cmpd="sng" w="2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053">
                <a:latin typeface="Abel"/>
                <a:ea typeface="Abel"/>
                <a:cs typeface="Abel"/>
                <a:sym typeface="Abel"/>
              </a:rPr>
              <a:t>Container</a:t>
            </a:r>
            <a:endParaRPr sz="1053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309" name="Google Shape;309;p29"/>
          <p:cNvSpPr txBox="1"/>
          <p:nvPr/>
        </p:nvSpPr>
        <p:spPr>
          <a:xfrm>
            <a:off x="3725675" y="2608650"/>
            <a:ext cx="13158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4">
                <a:latin typeface="Abel"/>
                <a:ea typeface="Abel"/>
                <a:cs typeface="Abel"/>
                <a:sym typeface="Abel"/>
              </a:rPr>
              <a:t>Processing</a:t>
            </a:r>
            <a:r>
              <a:rPr b="1" lang="it" sz="1204">
                <a:latin typeface="Abel"/>
                <a:ea typeface="Abel"/>
                <a:cs typeface="Abel"/>
                <a:sym typeface="Abel"/>
              </a:rPr>
              <a:t> Service</a:t>
            </a:r>
            <a:endParaRPr b="1" sz="1204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5403750" y="2884747"/>
            <a:ext cx="1230900" cy="567300"/>
          </a:xfrm>
          <a:prstGeom prst="roundRect">
            <a:avLst>
              <a:gd fmla="val 16667" name="adj"/>
            </a:avLst>
          </a:prstGeom>
          <a:noFill/>
          <a:ln cap="flat" cmpd="sng" w="2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053">
                <a:latin typeface="Abel"/>
                <a:ea typeface="Abel"/>
                <a:cs typeface="Abel"/>
                <a:sym typeface="Abel"/>
              </a:rPr>
              <a:t>Container</a:t>
            </a:r>
            <a:endParaRPr sz="1053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5900" y="2608650"/>
            <a:ext cx="11547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4">
                <a:latin typeface="Abel"/>
                <a:ea typeface="Abel"/>
                <a:cs typeface="Abel"/>
                <a:sym typeface="Abel"/>
              </a:rPr>
              <a:t>PostgreSQL</a:t>
            </a:r>
            <a:endParaRPr b="1" sz="1204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312" name="Google Shape;312;p29"/>
          <p:cNvSpPr/>
          <p:nvPr/>
        </p:nvSpPr>
        <p:spPr>
          <a:xfrm>
            <a:off x="7227300" y="2884747"/>
            <a:ext cx="1230900" cy="567300"/>
          </a:xfrm>
          <a:prstGeom prst="roundRect">
            <a:avLst>
              <a:gd fmla="val 16667" name="adj"/>
            </a:avLst>
          </a:prstGeom>
          <a:noFill/>
          <a:ln cap="flat" cmpd="sng" w="2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053">
                <a:latin typeface="Abel"/>
                <a:ea typeface="Abel"/>
                <a:cs typeface="Abel"/>
                <a:sym typeface="Abel"/>
              </a:rPr>
              <a:t>Container</a:t>
            </a:r>
            <a:endParaRPr sz="1053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7259450" y="2608650"/>
            <a:ext cx="11547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4">
                <a:latin typeface="Abel"/>
                <a:ea typeface="Abel"/>
                <a:cs typeface="Abel"/>
                <a:sym typeface="Abel"/>
              </a:rPr>
              <a:t>FrontEnd</a:t>
            </a:r>
            <a:endParaRPr b="1" sz="1204">
              <a:latin typeface="Abel"/>
              <a:ea typeface="Abel"/>
              <a:cs typeface="Abel"/>
              <a:sym typeface="Abel"/>
            </a:endParaRPr>
          </a:p>
        </p:txBody>
      </p:sp>
      <p:cxnSp>
        <p:nvCxnSpPr>
          <p:cNvPr id="314" name="Google Shape;314;p29"/>
          <p:cNvCxnSpPr>
            <a:stCxn id="303" idx="2"/>
            <a:endCxn id="305" idx="0"/>
          </p:cNvCxnSpPr>
          <p:nvPr/>
        </p:nvCxnSpPr>
        <p:spPr>
          <a:xfrm flipH="1">
            <a:off x="882600" y="1658147"/>
            <a:ext cx="3689400" cy="950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5" name="Google Shape;315;p29"/>
          <p:cNvCxnSpPr>
            <a:stCxn id="303" idx="2"/>
            <a:endCxn id="307" idx="0"/>
          </p:cNvCxnSpPr>
          <p:nvPr/>
        </p:nvCxnSpPr>
        <p:spPr>
          <a:xfrm flipH="1">
            <a:off x="2592900" y="1658147"/>
            <a:ext cx="1979100" cy="950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" name="Google Shape;316;p29"/>
          <p:cNvCxnSpPr>
            <a:stCxn id="303" idx="2"/>
            <a:endCxn id="309" idx="0"/>
          </p:cNvCxnSpPr>
          <p:nvPr/>
        </p:nvCxnSpPr>
        <p:spPr>
          <a:xfrm flipH="1">
            <a:off x="4383600" y="1658147"/>
            <a:ext cx="188400" cy="950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" name="Google Shape;317;p29"/>
          <p:cNvCxnSpPr>
            <a:stCxn id="303" idx="2"/>
            <a:endCxn id="311" idx="0"/>
          </p:cNvCxnSpPr>
          <p:nvPr/>
        </p:nvCxnSpPr>
        <p:spPr>
          <a:xfrm>
            <a:off x="4572000" y="1658147"/>
            <a:ext cx="1441200" cy="950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8" name="Google Shape;318;p29"/>
          <p:cNvCxnSpPr>
            <a:stCxn id="303" idx="2"/>
            <a:endCxn id="313" idx="0"/>
          </p:cNvCxnSpPr>
          <p:nvPr/>
        </p:nvCxnSpPr>
        <p:spPr>
          <a:xfrm>
            <a:off x="4572000" y="1658147"/>
            <a:ext cx="3264900" cy="950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0"/>
          <p:cNvSpPr txBox="1"/>
          <p:nvPr>
            <p:ph idx="10" type="dt"/>
          </p:nvPr>
        </p:nvSpPr>
        <p:spPr>
          <a:xfrm>
            <a:off x="4343400" y="4611284"/>
            <a:ext cx="19050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/>
              <a:t>11/03/2026</a:t>
            </a:r>
            <a:endParaRPr sz="100"/>
          </a:p>
        </p:txBody>
      </p:sp>
      <p:sp>
        <p:nvSpPr>
          <p:cNvPr id="325" name="Google Shape;325;p30"/>
          <p:cNvSpPr txBox="1"/>
          <p:nvPr>
            <p:ph idx="11" type="ftr"/>
          </p:nvPr>
        </p:nvSpPr>
        <p:spPr>
          <a:xfrm>
            <a:off x="1219200" y="4611281"/>
            <a:ext cx="28956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/>
              <a:t>HackSauce</a:t>
            </a:r>
            <a:r>
              <a:rPr b="0" i="0" lang="it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</p:txBody>
      </p:sp>
      <p:sp>
        <p:nvSpPr>
          <p:cNvPr id="326" name="Google Shape;326;p30"/>
          <p:cNvSpPr txBox="1"/>
          <p:nvPr>
            <p:ph idx="12" type="sldNum"/>
          </p:nvPr>
        </p:nvSpPr>
        <p:spPr>
          <a:xfrm>
            <a:off x="6553200" y="4611281"/>
            <a:ext cx="19050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/>
              <a:t>Page 13</a:t>
            </a:r>
            <a:endParaRPr sz="200"/>
          </a:p>
        </p:txBody>
      </p:sp>
      <p:sp>
        <p:nvSpPr>
          <p:cNvPr id="327" name="Google Shape;327;p30"/>
          <p:cNvSpPr txBox="1"/>
          <p:nvPr>
            <p:ph idx="4294967295" type="title"/>
          </p:nvPr>
        </p:nvSpPr>
        <p:spPr>
          <a:xfrm>
            <a:off x="1105625" y="202591"/>
            <a:ext cx="74169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it" sz="36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CONCLUSIONS:</a:t>
            </a:r>
            <a:endParaRPr sz="360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360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3600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328" name="Google Shape;328;p30"/>
          <p:cNvSpPr txBox="1"/>
          <p:nvPr/>
        </p:nvSpPr>
        <p:spPr>
          <a:xfrm>
            <a:off x="1105625" y="934375"/>
            <a:ext cx="64008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rPr>
              <a:t>Limitations and Possible Improvements:</a:t>
            </a:r>
            <a:endParaRPr sz="2400">
              <a:solidFill>
                <a:schemeClr val="dk2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329" name="Google Shape;329;p30"/>
          <p:cNvSpPr txBox="1"/>
          <p:nvPr/>
        </p:nvSpPr>
        <p:spPr>
          <a:xfrm>
            <a:off x="1007600" y="1516950"/>
            <a:ext cx="8136300" cy="8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bel"/>
              <a:buChar char="-"/>
            </a:pPr>
            <a:r>
              <a:rPr lang="it" sz="1800">
                <a:latin typeface="Abel"/>
                <a:ea typeface="Abel"/>
                <a:cs typeface="Abel"/>
                <a:sym typeface="Abel"/>
              </a:rPr>
              <a:t>No rule conflict resolution, improve by conflict detection and priority system</a:t>
            </a:r>
            <a:endParaRPr sz="1800">
              <a:latin typeface="Abel"/>
              <a:ea typeface="Abel"/>
              <a:cs typeface="Abel"/>
              <a:sym typeface="Abe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bel"/>
              <a:buChar char="-"/>
            </a:pPr>
            <a:r>
              <a:rPr lang="it" sz="1800">
                <a:latin typeface="Abel"/>
                <a:ea typeface="Abel"/>
                <a:cs typeface="Abel"/>
                <a:sym typeface="Abel"/>
              </a:rPr>
              <a:t>Sensor history not persisted, improve by sensor history storage and charts</a:t>
            </a:r>
            <a:endParaRPr sz="1800"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330" name="Google Shape;330;p30"/>
          <p:cNvSpPr txBox="1"/>
          <p:nvPr/>
        </p:nvSpPr>
        <p:spPr>
          <a:xfrm>
            <a:off x="1105625" y="2314050"/>
            <a:ext cx="64008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rPr>
              <a:t>Project Takeaways:</a:t>
            </a:r>
            <a:endParaRPr sz="2400">
              <a:solidFill>
                <a:schemeClr val="dk2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331" name="Google Shape;331;p30"/>
          <p:cNvSpPr txBox="1"/>
          <p:nvPr/>
        </p:nvSpPr>
        <p:spPr>
          <a:xfrm>
            <a:off x="1007600" y="3005026"/>
            <a:ext cx="8038500" cy="15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bel"/>
              <a:buChar char="-"/>
            </a:pPr>
            <a:r>
              <a:rPr lang="it" sz="1800">
                <a:latin typeface="Abel"/>
                <a:ea typeface="Abel"/>
                <a:cs typeface="Abel"/>
                <a:sym typeface="Abel"/>
              </a:rPr>
              <a:t>A good design phase, so stating clearly and agreeing before coding on user stories, interfaces and event schema is fundamental to make integration effortless</a:t>
            </a:r>
            <a:endParaRPr sz="1800">
              <a:latin typeface="Abel"/>
              <a:ea typeface="Abel"/>
              <a:cs typeface="Abel"/>
              <a:sym typeface="Abe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bel"/>
              <a:buChar char="-"/>
            </a:pPr>
            <a:r>
              <a:rPr lang="it" sz="1800">
                <a:latin typeface="Abel"/>
                <a:ea typeface="Abel"/>
                <a:cs typeface="Abel"/>
                <a:sym typeface="Abel"/>
              </a:rPr>
              <a:t>An event-driven architecture enforcing the previous takeaway allows fast and parallel development of multiple </a:t>
            </a:r>
            <a:r>
              <a:rPr lang="it" sz="1800">
                <a:latin typeface="Abel"/>
                <a:ea typeface="Abel"/>
                <a:cs typeface="Abel"/>
                <a:sym typeface="Abel"/>
              </a:rPr>
              <a:t>distributed</a:t>
            </a:r>
            <a:r>
              <a:rPr lang="it" sz="1800">
                <a:latin typeface="Abel"/>
                <a:ea typeface="Abel"/>
                <a:cs typeface="Abel"/>
                <a:sym typeface="Abel"/>
              </a:rPr>
              <a:t> services, and freedom of choice on the technologies used.</a:t>
            </a:r>
            <a:endParaRPr sz="1800">
              <a:latin typeface="Abel"/>
              <a:ea typeface="Abel"/>
              <a:cs typeface="Abel"/>
              <a:sym typeface="Abel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bel"/>
              <a:ea typeface="Abel"/>
              <a:cs typeface="Abel"/>
              <a:sym typeface="Abe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a sapienza">
  <a:themeElements>
    <a:clrScheme name="la sapienza">
      <a:dk1>
        <a:srgbClr val="822433"/>
      </a:dk1>
      <a:lt1>
        <a:srgbClr val="FFFFFF"/>
      </a:lt1>
      <a:dk2>
        <a:srgbClr val="822433"/>
      </a:dk2>
      <a:lt2>
        <a:srgbClr val="808080"/>
      </a:lt2>
      <a:accent1>
        <a:srgbClr val="BBE0E3"/>
      </a:accent1>
      <a:accent2>
        <a:srgbClr val="FFFF00"/>
      </a:accent2>
      <a:accent3>
        <a:srgbClr val="FFFFFF"/>
      </a:accent3>
      <a:accent4>
        <a:srgbClr val="BBE0E3"/>
      </a:accent4>
      <a:accent5>
        <a:srgbClr val="FFFF00"/>
      </a:accent5>
      <a:accent6>
        <a:srgbClr val="FFFFFF"/>
      </a:accent6>
      <a:hlink>
        <a:srgbClr val="0000FF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